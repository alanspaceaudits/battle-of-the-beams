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141A2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3" name="Picture 2" descr="aether_cosmology_logo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404104" y="822960"/>
            <a:ext cx="2286000" cy="2286000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457200" y="3383280"/>
            <a:ext cx="11247120" cy="8229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/>
            <a:r>
              <a:rPr sz="4400" b="1">
                <a:solidFill>
                  <a:srgbClr val="F5F1E8"/>
                </a:solidFill>
                <a:latin typeface="Calibri"/>
              </a:rPr>
              <a:t>BATTLE OF THE BEAMS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4114800"/>
            <a:ext cx="11247120" cy="5486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/>
            <a:r>
              <a:rPr sz="2000" b="0">
                <a:solidFill>
                  <a:srgbClr val="E8B549"/>
                </a:solidFill>
                <a:latin typeface="Calibri"/>
              </a:rPr>
              <a:t>Null hypothesis: horizontal VHF beam propagation over a curved surface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57200" y="4663440"/>
            <a:ext cx="1124712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/>
            <a:r>
              <a:rPr sz="1500" b="0">
                <a:solidFill>
                  <a:srgbClr val="F5F1E8"/>
                </a:solidFill>
                <a:latin typeface="Calibri"/>
              </a:rPr>
              <a:t>Knickebein 31.5 MHz, Kleve and Stollberg transmitters, Sep 1939 to May 1941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57200" y="6035040"/>
            <a:ext cx="1124712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/>
            <a:r>
              <a:rPr sz="1300" b="0">
                <a:solidFill>
                  <a:srgbClr val="E8B549"/>
                </a:solidFill>
                <a:latin typeface="Calibri"/>
              </a:rPr>
              <a:t>Aether Cosmology Research Group  |  ITU-certified BotB Calc v9_1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141A2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3" name="Picture 2" descr="aether_cosmology_logo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74320" y="274320"/>
            <a:ext cx="822960" cy="822960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1371600" y="320040"/>
            <a:ext cx="10058400" cy="5943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2800" b="1">
                <a:solidFill>
                  <a:srgbClr val="F5F1E8"/>
                </a:solidFill>
                <a:latin typeface="Calibri"/>
              </a:rPr>
              <a:t>Null hypothesis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371600" y="777240"/>
            <a:ext cx="1005840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400" b="0">
                <a:solidFill>
                  <a:srgbClr val="E8B549"/>
                </a:solidFill>
                <a:latin typeface="Calibri"/>
              </a:rPr>
              <a:t>Classical Popperian framing of the test</a:t>
            </a:r>
          </a:p>
        </p:txBody>
      </p:sp>
      <p:sp>
        <p:nvSpPr>
          <p:cNvPr id="6" name="Rectangle 5"/>
          <p:cNvSpPr/>
          <p:nvPr/>
        </p:nvSpPr>
        <p:spPr>
          <a:xfrm>
            <a:off x="457200" y="1188720"/>
            <a:ext cx="11277295" cy="40000"/>
          </a:xfrm>
          <a:prstGeom prst="rect">
            <a:avLst/>
          </a:prstGeom>
          <a:solidFill>
            <a:srgbClr val="E8B54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640080" y="1463040"/>
            <a:ext cx="1097280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600" b="0">
                <a:solidFill>
                  <a:srgbClr val="F5F1E8"/>
                </a:solidFill>
                <a:latin typeface="Calibri"/>
              </a:rPr>
              <a:t>We test whether the documented operation of the Knickebein VHF beam system is consistent with propagation over a sphere of radius 6,371 km.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40080" y="2194560"/>
            <a:ext cx="10972800" cy="4114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800" b="1">
                <a:solidFill>
                  <a:srgbClr val="E8B549"/>
                </a:solidFill>
                <a:latin typeface="Calibri"/>
              </a:rPr>
              <a:t>H1  (the alternative we attempt to falsify):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822960" y="2606040"/>
            <a:ext cx="10789920" cy="8686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500" b="0">
                <a:solidFill>
                  <a:srgbClr val="F5F1E8"/>
                </a:solidFill>
                <a:latin typeface="Calibri"/>
              </a:rPr>
              <a:t>The signal at the equisignal crossover sits above the receiver noise floor on a sphere of radius 6,371 km for every confirmed operational target.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40080" y="3611880"/>
            <a:ext cx="10972800" cy="4114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800" b="1">
                <a:solidFill>
                  <a:srgbClr val="E8B549"/>
                </a:solidFill>
                <a:latin typeface="Calibri"/>
              </a:rPr>
              <a:t>H0  (the position we assume false and try to refute):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822960" y="4023360"/>
            <a:ext cx="10789920" cy="12801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500" b="0">
                <a:solidFill>
                  <a:srgbClr val="F5F1E8"/>
                </a:solidFill>
                <a:latin typeface="Calibri"/>
              </a:rPr>
              <a:t>The signal at the equisignal crossover sits below the receiver noise floor on a sphere of radius 6,371 km for one or more confirmed operational targets. If the receiver cannot pick up the cross beam, the two-beam intersection cannot form, and precision bombing cannot proceed.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40080" y="5486400"/>
            <a:ext cx="10972800" cy="8229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400" b="0">
                <a:solidFill>
                  <a:srgbClr val="E8B549"/>
                </a:solidFill>
                <a:latin typeface="Calibri"/>
              </a:rPr>
              <a:t>The system demonstrably functioned over 10 months of operational use. A surface geometry that prohibits the observed function is falsified by the observation.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141A2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3" name="Picture 2" descr="aether_cosmology_logo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74320" y="274320"/>
            <a:ext cx="822960" cy="822960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1371600" y="320040"/>
            <a:ext cx="10058400" cy="5943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2800" b="1">
                <a:solidFill>
                  <a:srgbClr val="F5F1E8"/>
                </a:solidFill>
                <a:latin typeface="Calibri"/>
              </a:rPr>
              <a:t>The Knickebein system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371600" y="777240"/>
            <a:ext cx="1005840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400" b="0">
                <a:solidFill>
                  <a:srgbClr val="E8B549"/>
                </a:solidFill>
                <a:latin typeface="Calibri"/>
              </a:rPr>
              <a:t>Two transmitters, two beams, one intersection</a:t>
            </a:r>
          </a:p>
        </p:txBody>
      </p:sp>
      <p:sp>
        <p:nvSpPr>
          <p:cNvPr id="6" name="Rectangle 5"/>
          <p:cNvSpPr/>
          <p:nvPr/>
        </p:nvSpPr>
        <p:spPr>
          <a:xfrm>
            <a:off x="457200" y="1188720"/>
            <a:ext cx="11277295" cy="40000"/>
          </a:xfrm>
          <a:prstGeom prst="rect">
            <a:avLst/>
          </a:prstGeom>
          <a:solidFill>
            <a:srgbClr val="E8B54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640080" y="1417320"/>
            <a:ext cx="1097280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400" b="0">
                <a:solidFill>
                  <a:srgbClr val="F5F1E8"/>
                </a:solidFill>
                <a:latin typeface="Calibri"/>
              </a:rPr>
              <a:t>Telefunken 31.5 MHz directional beam, 3 kW TX, 99 m x 29 m aperture (26.0 dBi). Pilot flies the equisignal corridor between two sub-beams squinted +/- 5 degrees.</a:t>
            </a:r>
          </a:p>
        </p:txBody>
      </p:sp>
      <p:graphicFrame>
        <p:nvGraphicFramePr>
          <p:cNvPr id="8" name="Table 7"/>
          <p:cNvGraphicFramePr>
            <a:graphicFrameLocks noGrp="1"/>
          </p:cNvGraphicFramePr>
          <p:nvPr/>
        </p:nvGraphicFramePr>
        <p:xfrm>
          <a:off x="457200" y="2011680"/>
          <a:ext cx="11247120" cy="219456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606731"/>
                <a:gridCol w="1606731"/>
                <a:gridCol w="1606731"/>
                <a:gridCol w="1606731"/>
                <a:gridCol w="1606731"/>
                <a:gridCol w="1606731"/>
                <a:gridCol w="1606734"/>
              </a:tblGrid>
              <a:tr h="438912">
                <a:tc>
                  <a:txBody>
                    <a:bodyPr lIns="73152" rIns="73152" tIns="36576" bIns="36576"/>
                    <a:lstStyle/>
                    <a:p>
                      <a:pPr algn="l"/>
                      <a:r>
                        <a:rPr sz="1300" b="1">
                          <a:solidFill>
                            <a:srgbClr val="141A2B"/>
                          </a:solidFill>
                          <a:latin typeface="Calibri"/>
                        </a:rPr>
                        <a:t>Station</a:t>
                      </a:r>
                    </a:p>
                  </a:txBody>
                  <a:tcPr>
                    <a:solidFill>
                      <a:srgbClr val="E8B549"/>
                    </a:solidFill>
                  </a:tcPr>
                </a:tc>
                <a:tc>
                  <a:txBody>
                    <a:bodyPr lIns="73152" rIns="73152" tIns="36576" bIns="36576"/>
                    <a:lstStyle/>
                    <a:p>
                      <a:pPr algn="l"/>
                      <a:r>
                        <a:rPr sz="1300" b="1">
                          <a:solidFill>
                            <a:srgbClr val="141A2B"/>
                          </a:solidFill>
                          <a:latin typeface="Calibri"/>
                        </a:rPr>
                        <a:t>Lat</a:t>
                      </a:r>
                    </a:p>
                  </a:txBody>
                  <a:tcPr>
                    <a:solidFill>
                      <a:srgbClr val="E8B549"/>
                    </a:solidFill>
                  </a:tcPr>
                </a:tc>
                <a:tc>
                  <a:txBody>
                    <a:bodyPr lIns="73152" rIns="73152" tIns="36576" bIns="36576"/>
                    <a:lstStyle/>
                    <a:p>
                      <a:pPr algn="l"/>
                      <a:r>
                        <a:rPr sz="1300" b="1">
                          <a:solidFill>
                            <a:srgbClr val="141A2B"/>
                          </a:solidFill>
                          <a:latin typeface="Calibri"/>
                        </a:rPr>
                        <a:t>Lon</a:t>
                      </a:r>
                    </a:p>
                  </a:txBody>
                  <a:tcPr>
                    <a:solidFill>
                      <a:srgbClr val="E8B549"/>
                    </a:solidFill>
                  </a:tcPr>
                </a:tc>
                <a:tc>
                  <a:txBody>
                    <a:bodyPr lIns="73152" rIns="73152" tIns="36576" bIns="36576"/>
                    <a:lstStyle/>
                    <a:p>
                      <a:pPr algn="l"/>
                      <a:r>
                        <a:rPr sz="1300" b="1">
                          <a:solidFill>
                            <a:srgbClr val="141A2B"/>
                          </a:solidFill>
                          <a:latin typeface="Calibri"/>
                        </a:rPr>
                        <a:t>Terrain</a:t>
                      </a:r>
                    </a:p>
                  </a:txBody>
                  <a:tcPr>
                    <a:solidFill>
                      <a:srgbClr val="E8B549"/>
                    </a:solidFill>
                  </a:tcPr>
                </a:tc>
                <a:tc>
                  <a:txBody>
                    <a:bodyPr lIns="73152" rIns="73152" tIns="36576" bIns="36576"/>
                    <a:lstStyle/>
                    <a:p>
                      <a:pPr algn="l"/>
                      <a:r>
                        <a:rPr sz="1300" b="1">
                          <a:solidFill>
                            <a:srgbClr val="141A2B"/>
                          </a:solidFill>
                          <a:latin typeface="Calibri"/>
                        </a:rPr>
                        <a:t>Frame</a:t>
                      </a:r>
                    </a:p>
                  </a:txBody>
                  <a:tcPr>
                    <a:solidFill>
                      <a:srgbClr val="E8B549"/>
                    </a:solidFill>
                  </a:tcPr>
                </a:tc>
                <a:tc>
                  <a:txBody>
                    <a:bodyPr lIns="73152" rIns="73152" tIns="36576" bIns="36576"/>
                    <a:lstStyle/>
                    <a:p>
                      <a:pPr algn="l"/>
                      <a:r>
                        <a:rPr sz="1300" b="1">
                          <a:solidFill>
                            <a:srgbClr val="141A2B"/>
                          </a:solidFill>
                          <a:latin typeface="Calibri"/>
                        </a:rPr>
                        <a:t>TX height</a:t>
                      </a:r>
                    </a:p>
                  </a:txBody>
                  <a:tcPr>
                    <a:solidFill>
                      <a:srgbClr val="E8B549"/>
                    </a:solidFill>
                  </a:tcPr>
                </a:tc>
                <a:tc>
                  <a:txBody>
                    <a:bodyPr lIns="73152" rIns="73152" tIns="36576" bIns="36576"/>
                    <a:lstStyle/>
                    <a:p>
                      <a:pPr algn="l"/>
                      <a:r>
                        <a:rPr sz="1300" b="1">
                          <a:solidFill>
                            <a:srgbClr val="141A2B"/>
                          </a:solidFill>
                          <a:latin typeface="Calibri"/>
                        </a:rPr>
                        <a:t>Ground under beam</a:t>
                      </a:r>
                    </a:p>
                  </a:txBody>
                  <a:tcPr>
                    <a:solidFill>
                      <a:srgbClr val="E8B549"/>
                    </a:solidFill>
                  </a:tcPr>
                </a:tc>
              </a:tr>
              <a:tr h="438912">
                <a:tc>
                  <a:txBody>
                    <a:bodyPr lIns="73152" rIns="73152" tIns="36576" bIns="36576"/>
                    <a:lstStyle/>
                    <a:p>
                      <a:pPr algn="l"/>
                      <a:r>
                        <a:rPr sz="1200" b="0">
                          <a:solidFill>
                            <a:srgbClr val="F5F1E8"/>
                          </a:solidFill>
                          <a:latin typeface="Calibri"/>
                        </a:rPr>
                        <a:t>Kleve (Kn-4) director</a:t>
                      </a:r>
                    </a:p>
                  </a:txBody>
                  <a:tcPr>
                    <a:solidFill>
                      <a:srgbClr val="141A2B"/>
                    </a:solidFill>
                  </a:tcPr>
                </a:tc>
                <a:tc>
                  <a:txBody>
                    <a:bodyPr lIns="73152" rIns="73152" tIns="36576" bIns="36576"/>
                    <a:lstStyle/>
                    <a:p>
                      <a:pPr algn="l"/>
                      <a:r>
                        <a:rPr sz="1200" b="0">
                          <a:solidFill>
                            <a:srgbClr val="F5F1E8"/>
                          </a:solidFill>
                          <a:latin typeface="Calibri"/>
                        </a:rPr>
                        <a:t>51.79 N</a:t>
                      </a:r>
                    </a:p>
                  </a:txBody>
                  <a:tcPr>
                    <a:solidFill>
                      <a:srgbClr val="141A2B"/>
                    </a:solidFill>
                  </a:tcPr>
                </a:tc>
                <a:tc>
                  <a:txBody>
                    <a:bodyPr lIns="73152" rIns="73152" tIns="36576" bIns="36576"/>
                    <a:lstStyle/>
                    <a:p>
                      <a:pPr algn="l"/>
                      <a:r>
                        <a:rPr sz="1200" b="0">
                          <a:solidFill>
                            <a:srgbClr val="F5F1E8"/>
                          </a:solidFill>
                          <a:latin typeface="Calibri"/>
                        </a:rPr>
                        <a:t>6.10 E</a:t>
                      </a:r>
                    </a:p>
                  </a:txBody>
                  <a:tcPr>
                    <a:solidFill>
                      <a:srgbClr val="141A2B"/>
                    </a:solidFill>
                  </a:tcPr>
                </a:tc>
                <a:tc>
                  <a:txBody>
                    <a:bodyPr lIns="73152" rIns="73152" tIns="36576" bIns="36576"/>
                    <a:lstStyle/>
                    <a:p>
                      <a:pPr algn="l"/>
                      <a:r>
                        <a:rPr sz="1200" b="0">
                          <a:solidFill>
                            <a:srgbClr val="F5F1E8"/>
                          </a:solidFill>
                          <a:latin typeface="Calibri"/>
                        </a:rPr>
                        <a:t>83 m</a:t>
                      </a:r>
                    </a:p>
                  </a:txBody>
                  <a:tcPr>
                    <a:solidFill>
                      <a:srgbClr val="141A2B"/>
                    </a:solidFill>
                  </a:tcPr>
                </a:tc>
                <a:tc>
                  <a:txBody>
                    <a:bodyPr lIns="73152" rIns="73152" tIns="36576" bIns="36576"/>
                    <a:lstStyle/>
                    <a:p>
                      <a:pPr algn="l"/>
                      <a:r>
                        <a:rPr sz="1200" b="0">
                          <a:solidFill>
                            <a:srgbClr val="F5F1E8"/>
                          </a:solidFill>
                          <a:latin typeface="Calibri"/>
                        </a:rPr>
                        <a:t>28 m</a:t>
                      </a:r>
                    </a:p>
                  </a:txBody>
                  <a:tcPr>
                    <a:solidFill>
                      <a:srgbClr val="141A2B"/>
                    </a:solidFill>
                  </a:tcPr>
                </a:tc>
                <a:tc>
                  <a:txBody>
                    <a:bodyPr lIns="73152" rIns="73152" tIns="36576" bIns="36576"/>
                    <a:lstStyle/>
                    <a:p>
                      <a:pPr algn="l"/>
                      <a:r>
                        <a:rPr sz="1200" b="0">
                          <a:solidFill>
                            <a:srgbClr val="F5F1E8"/>
                          </a:solidFill>
                          <a:latin typeface="Calibri"/>
                        </a:rPr>
                        <a:t>111 m</a:t>
                      </a:r>
                    </a:p>
                  </a:txBody>
                  <a:tcPr>
                    <a:solidFill>
                      <a:srgbClr val="141A2B"/>
                    </a:solidFill>
                  </a:tcPr>
                </a:tc>
                <a:tc>
                  <a:txBody>
                    <a:bodyPr lIns="73152" rIns="73152" tIns="36576" bIns="36576"/>
                    <a:lstStyle/>
                    <a:p>
                      <a:pPr algn="l"/>
                      <a:r>
                        <a:rPr sz="1200" b="0">
                          <a:solidFill>
                            <a:srgbClr val="F5F1E8"/>
                          </a:solidFill>
                          <a:latin typeface="Calibri"/>
                        </a:rPr>
                        <a:t>land</a:t>
                      </a:r>
                    </a:p>
                  </a:txBody>
                  <a:tcPr>
                    <a:solidFill>
                      <a:srgbClr val="141A2B"/>
                    </a:solidFill>
                  </a:tcPr>
                </a:tc>
              </a:tr>
              <a:tr h="438912">
                <a:tc>
                  <a:txBody>
                    <a:bodyPr lIns="73152" rIns="73152" tIns="36576" bIns="36576"/>
                    <a:lstStyle/>
                    <a:p>
                      <a:pPr algn="l"/>
                      <a:r>
                        <a:rPr sz="1200" b="0">
                          <a:solidFill>
                            <a:srgbClr val="F5F1E8"/>
                          </a:solidFill>
                          <a:latin typeface="Calibri"/>
                        </a:rPr>
                        <a:t>Stollberg (Kn-2) cross</a:t>
                      </a:r>
                    </a:p>
                  </a:txBody>
                  <a:tcPr>
                    <a:solidFill>
                      <a:srgbClr val="141A2B"/>
                    </a:solidFill>
                  </a:tcPr>
                </a:tc>
                <a:tc>
                  <a:txBody>
                    <a:bodyPr lIns="73152" rIns="73152" tIns="36576" bIns="36576"/>
                    <a:lstStyle/>
                    <a:p>
                      <a:pPr algn="l"/>
                      <a:r>
                        <a:rPr sz="1200" b="0">
                          <a:solidFill>
                            <a:srgbClr val="F5F1E8"/>
                          </a:solidFill>
                          <a:latin typeface="Calibri"/>
                        </a:rPr>
                        <a:t>54.64 N</a:t>
                      </a:r>
                    </a:p>
                  </a:txBody>
                  <a:tcPr>
                    <a:solidFill>
                      <a:srgbClr val="141A2B"/>
                    </a:solidFill>
                  </a:tcPr>
                </a:tc>
                <a:tc>
                  <a:txBody>
                    <a:bodyPr lIns="73152" rIns="73152" tIns="36576" bIns="36576"/>
                    <a:lstStyle/>
                    <a:p>
                      <a:pPr algn="l"/>
                      <a:r>
                        <a:rPr sz="1200" b="0">
                          <a:solidFill>
                            <a:srgbClr val="F5F1E8"/>
                          </a:solidFill>
                          <a:latin typeface="Calibri"/>
                        </a:rPr>
                        <a:t>8.94 E</a:t>
                      </a:r>
                    </a:p>
                  </a:txBody>
                  <a:tcPr>
                    <a:solidFill>
                      <a:srgbClr val="141A2B"/>
                    </a:solidFill>
                  </a:tcPr>
                </a:tc>
                <a:tc>
                  <a:txBody>
                    <a:bodyPr lIns="73152" rIns="73152" tIns="36576" bIns="36576"/>
                    <a:lstStyle/>
                    <a:p>
                      <a:pPr algn="l"/>
                      <a:r>
                        <a:rPr sz="1200" b="0">
                          <a:solidFill>
                            <a:srgbClr val="F5F1E8"/>
                          </a:solidFill>
                          <a:latin typeface="Calibri"/>
                        </a:rPr>
                        <a:t>44 m</a:t>
                      </a:r>
                    </a:p>
                  </a:txBody>
                  <a:tcPr>
                    <a:solidFill>
                      <a:srgbClr val="141A2B"/>
                    </a:solidFill>
                  </a:tcPr>
                </a:tc>
                <a:tc>
                  <a:txBody>
                    <a:bodyPr lIns="73152" rIns="73152" tIns="36576" bIns="36576"/>
                    <a:lstStyle/>
                    <a:p>
                      <a:pPr algn="l"/>
                      <a:r>
                        <a:rPr sz="1200" b="0">
                          <a:solidFill>
                            <a:srgbClr val="F5F1E8"/>
                          </a:solidFill>
                          <a:latin typeface="Calibri"/>
                        </a:rPr>
                        <a:t>28 m</a:t>
                      </a:r>
                    </a:p>
                  </a:txBody>
                  <a:tcPr>
                    <a:solidFill>
                      <a:srgbClr val="141A2B"/>
                    </a:solidFill>
                  </a:tcPr>
                </a:tc>
                <a:tc>
                  <a:txBody>
                    <a:bodyPr lIns="73152" rIns="73152" tIns="36576" bIns="36576"/>
                    <a:lstStyle/>
                    <a:p>
                      <a:pPr algn="l"/>
                      <a:r>
                        <a:rPr sz="1200" b="0">
                          <a:solidFill>
                            <a:srgbClr val="F5F1E8"/>
                          </a:solidFill>
                          <a:latin typeface="Calibri"/>
                        </a:rPr>
                        <a:t>72 m</a:t>
                      </a:r>
                    </a:p>
                  </a:txBody>
                  <a:tcPr>
                    <a:solidFill>
                      <a:srgbClr val="141A2B"/>
                    </a:solidFill>
                  </a:tcPr>
                </a:tc>
                <a:tc>
                  <a:txBody>
                    <a:bodyPr lIns="73152" rIns="73152" tIns="36576" bIns="36576"/>
                    <a:lstStyle/>
                    <a:p>
                      <a:pPr algn="l"/>
                      <a:r>
                        <a:rPr sz="1200" b="0">
                          <a:solidFill>
                            <a:srgbClr val="F5F1E8"/>
                          </a:solidFill>
                          <a:latin typeface="Calibri"/>
                        </a:rPr>
                        <a:t>sea</a:t>
                      </a:r>
                    </a:p>
                  </a:txBody>
                  <a:tcPr>
                    <a:solidFill>
                      <a:srgbClr val="141A2B"/>
                    </a:solidFill>
                  </a:tcPr>
                </a:tc>
              </a:tr>
              <a:tr h="438912">
                <a:tc>
                  <a:txBody>
                    <a:bodyPr lIns="73152" rIns="73152" tIns="36576" bIns="36576"/>
                    <a:lstStyle/>
                    <a:p>
                      <a:pPr algn="l"/>
                      <a:r>
                        <a:rPr sz="1200" b="0">
                          <a:solidFill>
                            <a:srgbClr val="F5F1E8"/>
                          </a:solidFill>
                          <a:latin typeface="Calibri"/>
                        </a:rPr>
                        <a:t>Greny (Kn-7)</a:t>
                      </a:r>
                    </a:p>
                  </a:txBody>
                  <a:tcPr>
                    <a:solidFill>
                      <a:srgbClr val="141A2B"/>
                    </a:solidFill>
                  </a:tcPr>
                </a:tc>
                <a:tc>
                  <a:txBody>
                    <a:bodyPr lIns="73152" rIns="73152" tIns="36576" bIns="36576"/>
                    <a:lstStyle/>
                    <a:p>
                      <a:pPr algn="l"/>
                      <a:r>
                        <a:rPr sz="1200" b="0">
                          <a:solidFill>
                            <a:srgbClr val="F5F1E8"/>
                          </a:solidFill>
                          <a:latin typeface="Calibri"/>
                        </a:rPr>
                        <a:t>49.95 N</a:t>
                      </a:r>
                    </a:p>
                  </a:txBody>
                  <a:tcPr>
                    <a:solidFill>
                      <a:srgbClr val="141A2B"/>
                    </a:solidFill>
                  </a:tcPr>
                </a:tc>
                <a:tc>
                  <a:txBody>
                    <a:bodyPr lIns="73152" rIns="73152" tIns="36576" bIns="36576"/>
                    <a:lstStyle/>
                    <a:p>
                      <a:pPr algn="l"/>
                      <a:r>
                        <a:rPr sz="1200" b="0">
                          <a:solidFill>
                            <a:srgbClr val="F5F1E8"/>
                          </a:solidFill>
                          <a:latin typeface="Calibri"/>
                        </a:rPr>
                        <a:t>1.29 E</a:t>
                      </a:r>
                    </a:p>
                  </a:txBody>
                  <a:tcPr>
                    <a:solidFill>
                      <a:srgbClr val="141A2B"/>
                    </a:solidFill>
                  </a:tcPr>
                </a:tc>
                <a:tc>
                  <a:txBody>
                    <a:bodyPr lIns="73152" rIns="73152" tIns="36576" bIns="36576"/>
                    <a:lstStyle/>
                    <a:p>
                      <a:pPr algn="l"/>
                      <a:r>
                        <a:rPr sz="1200" b="0">
                          <a:solidFill>
                            <a:srgbClr val="F5F1E8"/>
                          </a:solidFill>
                          <a:latin typeface="Calibri"/>
                        </a:rPr>
                        <a:t>134 m</a:t>
                      </a:r>
                    </a:p>
                  </a:txBody>
                  <a:tcPr>
                    <a:solidFill>
                      <a:srgbClr val="141A2B"/>
                    </a:solidFill>
                  </a:tcPr>
                </a:tc>
                <a:tc>
                  <a:txBody>
                    <a:bodyPr lIns="73152" rIns="73152" tIns="36576" bIns="36576"/>
                    <a:lstStyle/>
                    <a:p>
                      <a:pPr algn="l"/>
                      <a:r>
                        <a:rPr sz="1200" b="0">
                          <a:solidFill>
                            <a:srgbClr val="F5F1E8"/>
                          </a:solidFill>
                          <a:latin typeface="Calibri"/>
                        </a:rPr>
                        <a:t>28 m</a:t>
                      </a:r>
                    </a:p>
                  </a:txBody>
                  <a:tcPr>
                    <a:solidFill>
                      <a:srgbClr val="141A2B"/>
                    </a:solidFill>
                  </a:tcPr>
                </a:tc>
                <a:tc>
                  <a:txBody>
                    <a:bodyPr lIns="73152" rIns="73152" tIns="36576" bIns="36576"/>
                    <a:lstStyle/>
                    <a:p>
                      <a:pPr algn="l"/>
                      <a:r>
                        <a:rPr sz="1200" b="0">
                          <a:solidFill>
                            <a:srgbClr val="F5F1E8"/>
                          </a:solidFill>
                          <a:latin typeface="Calibri"/>
                        </a:rPr>
                        <a:t>162 m</a:t>
                      </a:r>
                    </a:p>
                  </a:txBody>
                  <a:tcPr>
                    <a:solidFill>
                      <a:srgbClr val="141A2B"/>
                    </a:solidFill>
                  </a:tcPr>
                </a:tc>
                <a:tc>
                  <a:txBody>
                    <a:bodyPr lIns="73152" rIns="73152" tIns="36576" bIns="36576"/>
                    <a:lstStyle/>
                    <a:p>
                      <a:pPr algn="l"/>
                      <a:r>
                        <a:rPr sz="1200" b="0">
                          <a:solidFill>
                            <a:srgbClr val="F5F1E8"/>
                          </a:solidFill>
                          <a:latin typeface="Calibri"/>
                        </a:rPr>
                        <a:t>sea</a:t>
                      </a:r>
                    </a:p>
                  </a:txBody>
                  <a:tcPr>
                    <a:solidFill>
                      <a:srgbClr val="141A2B"/>
                    </a:solidFill>
                  </a:tcPr>
                </a:tc>
              </a:tr>
              <a:tr h="438912">
                <a:tc>
                  <a:txBody>
                    <a:bodyPr lIns="73152" rIns="73152" tIns="36576" bIns="36576"/>
                    <a:lstStyle/>
                    <a:p>
                      <a:pPr algn="l"/>
                      <a:r>
                        <a:rPr sz="1200" b="0">
                          <a:solidFill>
                            <a:srgbClr val="F5F1E8"/>
                          </a:solidFill>
                          <a:latin typeface="Calibri"/>
                        </a:rPr>
                        <a:t>Beaumont-Hague (Kn-9)</a:t>
                      </a:r>
                    </a:p>
                  </a:txBody>
                  <a:tcPr>
                    <a:solidFill>
                      <a:srgbClr val="141A2B"/>
                    </a:solidFill>
                  </a:tcPr>
                </a:tc>
                <a:tc>
                  <a:txBody>
                    <a:bodyPr lIns="73152" rIns="73152" tIns="36576" bIns="36576"/>
                    <a:lstStyle/>
                    <a:p>
                      <a:pPr algn="l"/>
                      <a:r>
                        <a:rPr sz="1200" b="0">
                          <a:solidFill>
                            <a:srgbClr val="F5F1E8"/>
                          </a:solidFill>
                          <a:latin typeface="Calibri"/>
                        </a:rPr>
                        <a:t>49.67 N</a:t>
                      </a:r>
                    </a:p>
                  </a:txBody>
                  <a:tcPr>
                    <a:solidFill>
                      <a:srgbClr val="141A2B"/>
                    </a:solidFill>
                  </a:tcPr>
                </a:tc>
                <a:tc>
                  <a:txBody>
                    <a:bodyPr lIns="73152" rIns="73152" tIns="36576" bIns="36576"/>
                    <a:lstStyle/>
                    <a:p>
                      <a:pPr algn="l"/>
                      <a:r>
                        <a:rPr sz="1200" b="0">
                          <a:solidFill>
                            <a:srgbClr val="F5F1E8"/>
                          </a:solidFill>
                          <a:latin typeface="Calibri"/>
                        </a:rPr>
                        <a:t>1.85 W</a:t>
                      </a:r>
                    </a:p>
                  </a:txBody>
                  <a:tcPr>
                    <a:solidFill>
                      <a:srgbClr val="141A2B"/>
                    </a:solidFill>
                  </a:tcPr>
                </a:tc>
                <a:tc>
                  <a:txBody>
                    <a:bodyPr lIns="73152" rIns="73152" tIns="36576" bIns="36576"/>
                    <a:lstStyle/>
                    <a:p>
                      <a:pPr algn="l"/>
                      <a:r>
                        <a:rPr sz="1200" b="0">
                          <a:solidFill>
                            <a:srgbClr val="F5F1E8"/>
                          </a:solidFill>
                          <a:latin typeface="Calibri"/>
                        </a:rPr>
                        <a:t>169 m</a:t>
                      </a:r>
                    </a:p>
                  </a:txBody>
                  <a:tcPr>
                    <a:solidFill>
                      <a:srgbClr val="141A2B"/>
                    </a:solidFill>
                  </a:tcPr>
                </a:tc>
                <a:tc>
                  <a:txBody>
                    <a:bodyPr lIns="73152" rIns="73152" tIns="36576" bIns="36576"/>
                    <a:lstStyle/>
                    <a:p>
                      <a:pPr algn="l"/>
                      <a:r>
                        <a:rPr sz="1200" b="0">
                          <a:solidFill>
                            <a:srgbClr val="F5F1E8"/>
                          </a:solidFill>
                          <a:latin typeface="Calibri"/>
                        </a:rPr>
                        <a:t>28 m</a:t>
                      </a:r>
                    </a:p>
                  </a:txBody>
                  <a:tcPr>
                    <a:solidFill>
                      <a:srgbClr val="141A2B"/>
                    </a:solidFill>
                  </a:tcPr>
                </a:tc>
                <a:tc>
                  <a:txBody>
                    <a:bodyPr lIns="73152" rIns="73152" tIns="36576" bIns="36576"/>
                    <a:lstStyle/>
                    <a:p>
                      <a:pPr algn="l"/>
                      <a:r>
                        <a:rPr sz="1200" b="0">
                          <a:solidFill>
                            <a:srgbClr val="F5F1E8"/>
                          </a:solidFill>
                          <a:latin typeface="Calibri"/>
                        </a:rPr>
                        <a:t>197 m</a:t>
                      </a:r>
                    </a:p>
                  </a:txBody>
                  <a:tcPr>
                    <a:solidFill>
                      <a:srgbClr val="141A2B"/>
                    </a:solidFill>
                  </a:tcPr>
                </a:tc>
                <a:tc>
                  <a:txBody>
                    <a:bodyPr lIns="73152" rIns="73152" tIns="36576" bIns="36576"/>
                    <a:lstStyle/>
                    <a:p>
                      <a:pPr algn="l"/>
                      <a:r>
                        <a:rPr sz="1200" b="0">
                          <a:solidFill>
                            <a:srgbClr val="F5F1E8"/>
                          </a:solidFill>
                          <a:latin typeface="Calibri"/>
                        </a:rPr>
                        <a:t>sea</a:t>
                      </a:r>
                    </a:p>
                  </a:txBody>
                  <a:tcPr>
                    <a:solidFill>
                      <a:srgbClr val="141A2B"/>
                    </a:solidFill>
                  </a:tcPr>
                </a:tc>
              </a:tr>
            </a:tbl>
          </a:graphicData>
        </a:graphic>
      </p:graphicFrame>
      <p:sp>
        <p:nvSpPr>
          <p:cNvPr id="9" name="TextBox 8"/>
          <p:cNvSpPr txBox="1"/>
          <p:nvPr/>
        </p:nvSpPr>
        <p:spPr>
          <a:xfrm>
            <a:off x="640080" y="4526280"/>
            <a:ext cx="10972800" cy="4114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800" b="1">
                <a:solidFill>
                  <a:srgbClr val="E8B549"/>
                </a:solidFill>
                <a:latin typeface="Calibri"/>
              </a:rPr>
              <a:t>Discriminating leg of the test: the Stollberg cross beam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40080" y="4937760"/>
            <a:ext cx="10972800" cy="16459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400" b="0">
                <a:solidFill>
                  <a:srgbClr val="F5F1E8"/>
                </a:solidFill>
                <a:latin typeface="Calibri"/>
              </a:rPr>
              <a:t>Without the cross beam, the two-beam intersection does not form and no release point is given to the bomb-aimer. Director-only beam guidance (Kleve alone) provides a line to fly, no release point. The Stollberg cross beam at 694 to 791 km over the North Sea is therefore the load-bearing geometry for the falsification test.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141A2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3" name="Picture 2" descr="aether_cosmology_logo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74320" y="274320"/>
            <a:ext cx="822960" cy="822960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1371600" y="320040"/>
            <a:ext cx="10058400" cy="5943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2800" b="1">
                <a:solidFill>
                  <a:srgbClr val="F5F1E8"/>
                </a:solidFill>
                <a:latin typeface="Calibri"/>
              </a:rPr>
              <a:t>Two propagation models, four notebooks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371600" y="777240"/>
            <a:ext cx="1005840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400" b="0">
                <a:solidFill>
                  <a:srgbClr val="E8B549"/>
                </a:solidFill>
                <a:latin typeface="Calibri"/>
              </a:rPr>
              <a:t>Same link budget, different surface geometry</a:t>
            </a:r>
          </a:p>
        </p:txBody>
      </p:sp>
      <p:sp>
        <p:nvSpPr>
          <p:cNvPr id="6" name="Rectangle 5"/>
          <p:cNvSpPr/>
          <p:nvPr/>
        </p:nvSpPr>
        <p:spPr>
          <a:xfrm>
            <a:off x="457200" y="1188720"/>
            <a:ext cx="11277295" cy="40000"/>
          </a:xfrm>
          <a:prstGeom prst="rect">
            <a:avLst/>
          </a:prstGeom>
          <a:solidFill>
            <a:srgbClr val="E8B54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548640" y="1554480"/>
            <a:ext cx="548640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2000" b="1">
                <a:solidFill>
                  <a:srgbClr val="E8B549"/>
                </a:solidFill>
                <a:latin typeface="Calibri"/>
              </a:rPr>
              <a:t>Globe Earth (GE): Fock smooth-Earth diffraction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48640" y="2011680"/>
            <a:ext cx="5486400" cy="22860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400" b="0">
                <a:solidFill>
                  <a:srgbClr val="F5F1E8"/>
                </a:solidFill>
                <a:latin typeface="Calibri"/>
              </a:rPr>
              <a:t>ITU-R P.526-16 Section 3, first-term residue series.</a:t>
            </a:r>
          </a:p>
          <a:p>
            <a:pPr algn="l"/>
            <a:r>
              <a:rPr sz="1400" b="0">
                <a:solidFill>
                  <a:srgbClr val="F5F1E8"/>
                </a:solidFill>
                <a:latin typeface="Calibri"/>
              </a:rPr>
              <a:t>Wave bends around the 6,371 km sphere.</a:t>
            </a:r>
          </a:p>
          <a:p>
            <a:pPr algn="l"/>
            <a:r>
              <a:rPr sz="1400" b="0">
                <a:solidFill>
                  <a:srgbClr val="F5F1E8"/>
                </a:solidFill>
                <a:latin typeface="Calibri"/>
              </a:rPr>
              <a:t>Exponential field decay past the radio horizon.</a:t>
            </a:r>
          </a:p>
          <a:p>
            <a:pPr algn="l"/>
            <a:r>
              <a:rPr sz="1400" b="0">
                <a:solidFill>
                  <a:srgbClr val="F5F1E8"/>
                </a:solidFill>
                <a:latin typeface="Calibri"/>
              </a:rPr>
              <a:t>Notebook 001 = Kleve director.</a:t>
            </a:r>
          </a:p>
          <a:p>
            <a:pPr algn="l"/>
            <a:r>
              <a:rPr sz="1400" b="0">
                <a:solidFill>
                  <a:srgbClr val="F5F1E8"/>
                </a:solidFill>
                <a:latin typeface="Calibri"/>
              </a:rPr>
              <a:t>Notebook 002 = Stollberg cross.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309360" y="1554480"/>
            <a:ext cx="548640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2000" b="1">
                <a:solidFill>
                  <a:srgbClr val="E8B549"/>
                </a:solidFill>
                <a:latin typeface="Calibri"/>
              </a:rPr>
              <a:t>Flat Earth (FE): Sommerfeld-Norton three-term Ez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309360" y="2011680"/>
            <a:ext cx="5486400" cy="22860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400" b="0">
                <a:solidFill>
                  <a:srgbClr val="F5F1E8"/>
                </a:solidFill>
                <a:latin typeface="Calibri"/>
              </a:rPr>
              <a:t>ITU Handbook on Ground Wave Propagation (2014) Part 1 Section 3.2.1.</a:t>
            </a:r>
          </a:p>
          <a:p>
            <a:pPr algn="l"/>
            <a:r>
              <a:rPr sz="1400" b="0">
                <a:solidFill>
                  <a:srgbClr val="F5F1E8"/>
                </a:solidFill>
                <a:latin typeface="Calibri"/>
              </a:rPr>
              <a:t>Direct ray plus Fresnel-reflected ray plus Norton surface wave.</a:t>
            </a:r>
          </a:p>
          <a:p>
            <a:pPr algn="l"/>
            <a:r>
              <a:rPr sz="1400" b="0">
                <a:solidFill>
                  <a:srgbClr val="F5F1E8"/>
                </a:solidFill>
                <a:latin typeface="Calibri"/>
              </a:rPr>
              <a:t>Rectilinear, no horizon, no shadow zone.</a:t>
            </a:r>
          </a:p>
          <a:p>
            <a:pPr algn="l"/>
            <a:r>
              <a:rPr sz="1400" b="0">
                <a:solidFill>
                  <a:srgbClr val="F5F1E8"/>
                </a:solidFill>
                <a:latin typeface="Calibri"/>
              </a:rPr>
              <a:t>Notebook 003 = Kleve director.</a:t>
            </a:r>
          </a:p>
          <a:p>
            <a:pPr algn="l"/>
            <a:r>
              <a:rPr sz="1400" b="0">
                <a:solidFill>
                  <a:srgbClr val="F5F1E8"/>
                </a:solidFill>
                <a:latin typeface="Calibri"/>
              </a:rPr>
              <a:t>Notebook 004 = Stollberg cross.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548640" y="4434840"/>
            <a:ext cx="1115568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800" b="1">
                <a:solidFill>
                  <a:srgbClr val="E8B549"/>
                </a:solidFill>
                <a:latin typeface="Calibri"/>
              </a:rPr>
              <a:t>Common inputs (same for both models, both stations)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548640" y="4892040"/>
            <a:ext cx="11155680" cy="1463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400" b="0">
                <a:solidFill>
                  <a:srgbClr val="F5F1E8"/>
                </a:solidFill>
                <a:latin typeface="Calibri"/>
              </a:rPr>
              <a:t>f = 31.5 MHz, P_tx = 3,000 W, G_tx = 26.0 dBi, lambda = 9.517 m, k = 4/3 effective Earth radius (a_e = 8,495 km), 290 K thermal at 500 Hz, ITU-R P.372 galactic Fa = 17.5 dB at 31.5 MHz, noise floor 0.0755 uV at 50 ohm input, Telefunken +/- 5 degree squint geometry.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141A2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3" name="Picture 2" descr="aether_cosmology_logo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74320" y="274320"/>
            <a:ext cx="822960" cy="822960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1371600" y="320040"/>
            <a:ext cx="10058400" cy="5943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2800" b="1">
                <a:solidFill>
                  <a:srgbClr val="F5F1E8"/>
                </a:solidFill>
                <a:latin typeface="Calibri"/>
              </a:rPr>
              <a:t>Globe model: ITU-R P.526-16 Fock diffraction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371600" y="777240"/>
            <a:ext cx="1005840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400" b="0">
                <a:solidFill>
                  <a:srgbClr val="E8B549"/>
                </a:solidFill>
                <a:latin typeface="Calibri"/>
              </a:rPr>
              <a:t>First-term residue series past the radio horizon</a:t>
            </a:r>
          </a:p>
        </p:txBody>
      </p:sp>
      <p:sp>
        <p:nvSpPr>
          <p:cNvPr id="6" name="Rectangle 5"/>
          <p:cNvSpPr/>
          <p:nvPr/>
        </p:nvSpPr>
        <p:spPr>
          <a:xfrm>
            <a:off x="457200" y="1188720"/>
            <a:ext cx="11277295" cy="40000"/>
          </a:xfrm>
          <a:prstGeom prst="rect">
            <a:avLst/>
          </a:prstGeom>
          <a:solidFill>
            <a:srgbClr val="E8B54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640080" y="1463040"/>
            <a:ext cx="10972800" cy="5029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500" b="0">
                <a:solidFill>
                  <a:srgbClr val="F5F1E8"/>
                </a:solidFill>
                <a:latin typeface="Calibri"/>
              </a:rPr>
              <a:t>Effective Earth radius:  a_e = (4/3) R_Earth = 8,495 km</a:t>
            </a:r>
          </a:p>
          <a:p>
            <a:pPr algn="l"/>
            <a:r>
              <a:rPr sz="1500" b="0">
                <a:solidFill>
                  <a:srgbClr val="F5F1E8"/>
                </a:solidFill>
                <a:latin typeface="Calibri"/>
              </a:rPr>
              <a:t>Beta polarisation parameter (Eq. 16, 16a):  K^2 = 6.89 sigma / (k^(2/3) f_MHz^(5/3))</a:t>
            </a:r>
          </a:p>
          <a:p>
            <a:pPr algn="l"/>
            <a:r>
              <a:rPr sz="1500" b="0">
                <a:solidFill>
                  <a:srgbClr val="F5F1E8"/>
                </a:solidFill>
                <a:latin typeface="Calibri"/>
              </a:rPr>
              <a:t>  - Land at 31.5 MHz vert pol -&gt; beta = 1.0</a:t>
            </a:r>
          </a:p>
          <a:p>
            <a:pPr algn="l"/>
            <a:r>
              <a:rPr sz="1500" b="0">
                <a:solidFill>
                  <a:srgbClr val="F5F1E8"/>
                </a:solidFill>
                <a:latin typeface="Calibri"/>
              </a:rPr>
              <a:t>  - Sea  at 31.5 MHz vert pol -&gt; beta ~ 0.81  (Stollberg correction)</a:t>
            </a:r>
          </a:p>
          <a:p>
            <a:pPr algn="l"/>
            <a:r>
              <a:rPr sz="1500" b="0">
                <a:solidFill>
                  <a:srgbClr val="F5F1E8"/>
                </a:solidFill>
                <a:latin typeface="Calibri"/>
              </a:rPr>
              <a:t>Normalised distance:  X = beta (pi / (lambda a_e^2))^(1/3) d   (Eq. 13)</a:t>
            </a:r>
          </a:p>
          <a:p>
            <a:pPr algn="l"/>
            <a:r>
              <a:rPr sz="1500" b="0">
                <a:solidFill>
                  <a:srgbClr val="F5F1E8"/>
                </a:solidFill>
                <a:latin typeface="Calibri"/>
              </a:rPr>
              <a:t>Normalised heights:    Y_(1,2) = 2 beta (pi^2 / (lambda^2 a_e))^(1/3) h_(tx,rx)</a:t>
            </a:r>
          </a:p>
          <a:p>
            <a:pPr algn="l"/>
            <a:r>
              <a:rPr sz="1500" b="0">
                <a:solidFill>
                  <a:srgbClr val="F5F1E8"/>
                </a:solidFill>
                <a:latin typeface="Calibri"/>
              </a:rPr>
              <a:t>Distance term (long-path, X &gt;= 1.6):  F(X) = 11 + 10 log10 X - 17.6 X</a:t>
            </a:r>
          </a:p>
          <a:p>
            <a:pPr algn="l"/>
            <a:r>
              <a:rPr sz="1500" b="0">
                <a:solidFill>
                  <a:srgbClr val="F5F1E8"/>
                </a:solidFill>
                <a:latin typeface="Calibri"/>
              </a:rPr>
              <a:t>Height-gain term G(Y) per Eq. 17 with Eq. 18 lower-bound clamp</a:t>
            </a:r>
          </a:p>
          <a:p>
            <a:pPr algn="l"/>
            <a:r>
              <a:rPr sz="1500" b="0">
                <a:solidFill>
                  <a:srgbClr val="F5F1E8"/>
                </a:solidFill>
                <a:latin typeface="Calibri"/>
              </a:rPr>
              <a:t>Total:  E/E_0 (dB) = F(X) + G(Y_1) + G(Y_2)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40080" y="5943600"/>
            <a:ext cx="10972800" cy="5486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300" b="0">
                <a:solidFill>
                  <a:srgbClr val="E8B549"/>
                </a:solidFill>
                <a:latin typeface="Calibri"/>
              </a:rPr>
              <a:t>Notebooks 001 and 002 walk every term with editable target selection and a Squint Sandbox cell.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141A2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3" name="Picture 2" descr="aether_cosmology_logo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74320" y="274320"/>
            <a:ext cx="822960" cy="822960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1371600" y="320040"/>
            <a:ext cx="10058400" cy="5943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2800" b="1">
                <a:solidFill>
                  <a:srgbClr val="F5F1E8"/>
                </a:solidFill>
                <a:latin typeface="Calibri"/>
              </a:rPr>
              <a:t>Flat model: Sommerfeld-Norton three-term Ez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371600" y="777240"/>
            <a:ext cx="1005840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400" b="0">
                <a:solidFill>
                  <a:srgbClr val="E8B549"/>
                </a:solidFill>
                <a:latin typeface="Calibri"/>
              </a:rPr>
              <a:t>ITU Handbook 2014 Part 1 Section 3.2.1</a:t>
            </a:r>
          </a:p>
        </p:txBody>
      </p:sp>
      <p:sp>
        <p:nvSpPr>
          <p:cNvPr id="6" name="Rectangle 5"/>
          <p:cNvSpPr/>
          <p:nvPr/>
        </p:nvSpPr>
        <p:spPr>
          <a:xfrm>
            <a:off x="457200" y="1188720"/>
            <a:ext cx="11277295" cy="40000"/>
          </a:xfrm>
          <a:prstGeom prst="rect">
            <a:avLst/>
          </a:prstGeom>
          <a:solidFill>
            <a:srgbClr val="E8B54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640080" y="1463040"/>
            <a:ext cx="10972800" cy="5029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500" b="0">
                <a:solidFill>
                  <a:srgbClr val="F5F1E8"/>
                </a:solidFill>
                <a:latin typeface="Calibri"/>
              </a:rPr>
              <a:t>Slant ranges (no curvature):  r_1 = sqrt(d^2 + (h_rx - h_tx)^2),  r_2 = sqrt(d^2 + (h_rx + h_tx)^2)</a:t>
            </a:r>
          </a:p>
          <a:p>
            <a:pPr algn="l"/>
            <a:r>
              <a:rPr sz="1500" b="0">
                <a:solidFill>
                  <a:srgbClr val="F5F1E8"/>
                </a:solidFill>
                <a:latin typeface="Calibri"/>
              </a:rPr>
              <a:t>Complex permittivity:  x = 18000 sigma / f_MHz,   n^2 = eps_r - j x,   u^2 = 2 / n^2</a:t>
            </a:r>
          </a:p>
          <a:p>
            <a:pPr algn="l"/>
            <a:r>
              <a:rPr sz="1500" b="0">
                <a:solidFill>
                  <a:srgbClr val="F5F1E8"/>
                </a:solidFill>
                <a:latin typeface="Calibri"/>
              </a:rPr>
              <a:t>Fresnel reflection coefficient (vertical pol):</a:t>
            </a:r>
          </a:p>
          <a:p>
            <a:pPr algn="l"/>
            <a:r>
              <a:rPr sz="1500" b="0">
                <a:solidFill>
                  <a:srgbClr val="F5F1E8"/>
                </a:solidFill>
                <a:latin typeface="Calibri"/>
              </a:rPr>
              <a:t>    R_v = (n^2 sin psi_2 - sqrt(n^2 - cos^2 psi_2)) / (n^2 sin psi_2 + sqrt(n^2 - cos^2 psi_2))</a:t>
            </a:r>
          </a:p>
          <a:p>
            <a:pPr algn="l"/>
            <a:r>
              <a:rPr sz="1500" b="0">
                <a:solidFill>
                  <a:srgbClr val="F5F1E8"/>
                </a:solidFill>
                <a:latin typeface="Calibri"/>
              </a:rPr>
              <a:t>Norton numerical distance:  w = -j 2k r_2 u^2 (1 - u^2 cos^2 psi_2) / (1 - R_v)</a:t>
            </a:r>
          </a:p>
          <a:p>
            <a:pPr algn="l"/>
            <a:r>
              <a:rPr sz="1500" b="0">
                <a:solidFill>
                  <a:srgbClr val="F5F1E8"/>
                </a:solidFill>
                <a:latin typeface="Calibri"/>
              </a:rPr>
              <a:t>Attenuation function (large-|w| asymptotic, Eq. 7):</a:t>
            </a:r>
          </a:p>
          <a:p>
            <a:pPr algn="l"/>
            <a:r>
              <a:rPr sz="1500" b="0">
                <a:solidFill>
                  <a:srgbClr val="F5F1E8"/>
                </a:solidFill>
                <a:latin typeface="Calibri"/>
              </a:rPr>
              <a:t>    F = -1/(2w) - 3/(2w)^2 - 15/(2w)^3 - 105/(2w)^4</a:t>
            </a:r>
          </a:p>
          <a:p>
            <a:pPr algn="l"/>
            <a:r>
              <a:rPr sz="1500" b="0">
                <a:solidFill>
                  <a:srgbClr val="F5F1E8"/>
                </a:solidFill>
                <a:latin typeface="Calibri"/>
              </a:rPr>
              <a:t>E_z = E_direct + E_reflected + E_surface, summed as complex phasors at the receiver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40080" y="5943600"/>
            <a:ext cx="10972800" cy="5486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300" b="0">
                <a:solidFill>
                  <a:srgbClr val="E8B549"/>
                </a:solidFill>
                <a:latin typeface="Calibri"/>
              </a:rPr>
              <a:t>Notebooks 003 and 004 walk every complex-arithmetic step from r_1 / r_2 through P_rx.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141A2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3" name="Picture 2" descr="aether_cosmology_logo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74320" y="274320"/>
            <a:ext cx="822960" cy="822960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1371600" y="320040"/>
            <a:ext cx="10058400" cy="5943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2800" b="1">
                <a:solidFill>
                  <a:srgbClr val="F5F1E8"/>
                </a:solidFill>
                <a:latin typeface="Calibri"/>
              </a:rPr>
              <a:t>Independent globe cross-check: ITU-R P.368 GRWAVE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371600" y="777240"/>
            <a:ext cx="1005840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400" b="0">
                <a:solidFill>
                  <a:srgbClr val="E8B549"/>
                </a:solidFill>
                <a:latin typeface="Calibri"/>
              </a:rPr>
              <a:t>ITU's own Fortran ground-wave calculator</a:t>
            </a:r>
          </a:p>
        </p:txBody>
      </p:sp>
      <p:sp>
        <p:nvSpPr>
          <p:cNvPr id="6" name="Rectangle 5"/>
          <p:cNvSpPr/>
          <p:nvPr/>
        </p:nvSpPr>
        <p:spPr>
          <a:xfrm>
            <a:off x="457200" y="1188720"/>
            <a:ext cx="11277295" cy="40000"/>
          </a:xfrm>
          <a:prstGeom prst="rect">
            <a:avLst/>
          </a:prstGeom>
          <a:solidFill>
            <a:srgbClr val="E8B54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640080" y="1554480"/>
            <a:ext cx="10972800" cy="42062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500" b="0">
                <a:solidFill>
                  <a:srgbClr val="F5F1E8"/>
                </a:solidFill>
                <a:latin typeface="Calibri"/>
              </a:rPr>
              <a:t>P.368 GRWAVE is the Fortran implementation of Recommendation ITU-R P.368, maintained on the ITU-R Study Group 3 page. Rotheram (1981) three-region method: geometric-optics + extended flat-Earth + full multi-mode residue series, with the exponential refractivity profile N(h) = 315 exp(-0.136 h).</a:t>
            </a:r>
          </a:p>
          <a:p>
            <a:pPr algn="l"/>
            <a:r>
              <a:rPr sz="1500" b="0">
                <a:solidFill>
                  <a:srgbClr val="F5F1E8"/>
                </a:solidFill>
                <a:latin typeface="Calibri"/>
              </a:rPr>
              <a:t/>
            </a:r>
          </a:p>
          <a:p>
            <a:pPr algn="l"/>
            <a:r>
              <a:rPr sz="1500" b="0">
                <a:solidFill>
                  <a:srgbClr val="F5F1E8"/>
                </a:solidFill>
                <a:latin typeface="Calibri"/>
              </a:rPr>
              <a:t>GRWAVE runs the same underlying physics as ITU-R P.526 Section 3 (Fock residue series) via an independent code path, then adds the Sommerfeld surface-wave contribution and the full multi-mode sum. Cross-validated against the P.526 first-term Fock to within a few dB on every BotB path.</a:t>
            </a:r>
          </a:p>
          <a:p>
            <a:pPr algn="l"/>
            <a:r>
              <a:rPr sz="1500" b="0">
                <a:solidFill>
                  <a:srgbClr val="F5F1E8"/>
                </a:solidFill>
                <a:latin typeface="Calibri"/>
              </a:rPr>
              <a:t/>
            </a:r>
          </a:p>
          <a:p>
            <a:pPr algn="l"/>
            <a:r>
              <a:rPr sz="1500" b="0">
                <a:solidFill>
                  <a:srgbClr val="F5F1E8"/>
                </a:solidFill>
                <a:latin typeface="Calibri"/>
              </a:rPr>
              <a:t>Verdict from GRWAVE on Stollberg to Beeston (694 km, sea, 31.5 MHz, RX 6,000 m): peak SNR roughly -3 dB below the receiver noise floor. Both ITU globe standards agree.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40080" y="5852160"/>
            <a:ext cx="10972800" cy="5486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300" b="0">
                <a:solidFill>
                  <a:srgbClr val="E8B549"/>
                </a:solidFill>
                <a:latin typeface="Calibri"/>
              </a:rPr>
              <a:t>Reference: GRWAVE_P368_BotB.md in the Obsidian vault, plus run_grwave_knickebein.py in the BotB repo.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141A2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3" name="Picture 2" descr="aether_cosmology_logo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74320" y="274320"/>
            <a:ext cx="822960" cy="822960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1371600" y="320040"/>
            <a:ext cx="10058400" cy="5943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2800" b="1">
                <a:solidFill>
                  <a:srgbClr val="F5F1E8"/>
                </a:solidFill>
                <a:latin typeface="Calibri"/>
              </a:rPr>
              <a:t>Results: Kleve director beam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371600" y="777240"/>
            <a:ext cx="1005840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400" b="0">
                <a:solidFill>
                  <a:srgbClr val="E8B549"/>
                </a:solidFill>
                <a:latin typeface="Calibri"/>
              </a:rPr>
              <a:t>Globe Fock, 5 degree squint, equisignal corridor</a:t>
            </a:r>
          </a:p>
        </p:txBody>
      </p:sp>
      <p:sp>
        <p:nvSpPr>
          <p:cNvPr id="6" name="Rectangle 5"/>
          <p:cNvSpPr/>
          <p:nvPr/>
        </p:nvSpPr>
        <p:spPr>
          <a:xfrm>
            <a:off x="457200" y="1188720"/>
            <a:ext cx="11277295" cy="40000"/>
          </a:xfrm>
          <a:prstGeom prst="rect">
            <a:avLst/>
          </a:prstGeom>
          <a:solidFill>
            <a:srgbClr val="E8B54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graphicFrame>
        <p:nvGraphicFramePr>
          <p:cNvPr id="7" name="Table 6"/>
          <p:cNvGraphicFramePr>
            <a:graphicFrameLocks noGrp="1"/>
          </p:cNvGraphicFramePr>
          <p:nvPr/>
        </p:nvGraphicFramePr>
        <p:xfrm>
          <a:off x="457200" y="1463040"/>
          <a:ext cx="11247120" cy="420624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874520"/>
                <a:gridCol w="1874520"/>
                <a:gridCol w="1874520"/>
                <a:gridCol w="1874520"/>
                <a:gridCol w="1874520"/>
                <a:gridCol w="1874520"/>
              </a:tblGrid>
              <a:tr h="420624">
                <a:tc>
                  <a:txBody>
                    <a:bodyPr lIns="73152" rIns="73152" tIns="36576" bIns="36576"/>
                    <a:lstStyle/>
                    <a:p>
                      <a:pPr algn="l"/>
                      <a:r>
                        <a:rPr sz="1300" b="1">
                          <a:solidFill>
                            <a:srgbClr val="141A2B"/>
                          </a:solidFill>
                          <a:latin typeface="Calibri"/>
                        </a:rPr>
                        <a:t>Target</a:t>
                      </a:r>
                    </a:p>
                  </a:txBody>
                  <a:tcPr>
                    <a:solidFill>
                      <a:srgbClr val="E8B549"/>
                    </a:solidFill>
                  </a:tcPr>
                </a:tc>
                <a:tc>
                  <a:txBody>
                    <a:bodyPr lIns="73152" rIns="73152" tIns="36576" bIns="36576"/>
                    <a:lstStyle/>
                    <a:p>
                      <a:pPr algn="l"/>
                      <a:r>
                        <a:rPr sz="1300" b="1">
                          <a:solidFill>
                            <a:srgbClr val="141A2B"/>
                          </a:solidFill>
                          <a:latin typeface="Calibri"/>
                        </a:rPr>
                        <a:t>d (km)</a:t>
                      </a:r>
                    </a:p>
                  </a:txBody>
                  <a:tcPr>
                    <a:solidFill>
                      <a:srgbClr val="E8B549"/>
                    </a:solidFill>
                  </a:tcPr>
                </a:tc>
                <a:tc>
                  <a:txBody>
                    <a:bodyPr lIns="73152" rIns="73152" tIns="36576" bIns="36576"/>
                    <a:lstStyle/>
                    <a:p>
                      <a:pPr algn="l"/>
                      <a:r>
                        <a:rPr sz="1300" b="1">
                          <a:solidFill>
                            <a:srgbClr val="141A2B"/>
                          </a:solidFill>
                          <a:latin typeface="Calibri"/>
                        </a:rPr>
                        <a:t>Ground</a:t>
                      </a:r>
                    </a:p>
                  </a:txBody>
                  <a:tcPr>
                    <a:solidFill>
                      <a:srgbClr val="E8B549"/>
                    </a:solidFill>
                  </a:tcPr>
                </a:tc>
                <a:tc>
                  <a:txBody>
                    <a:bodyPr lIns="73152" rIns="73152" tIns="36576" bIns="36576"/>
                    <a:lstStyle/>
                    <a:p>
                      <a:pPr algn="l"/>
                      <a:r>
                        <a:rPr sz="1300" b="1">
                          <a:solidFill>
                            <a:srgbClr val="141A2B"/>
                          </a:solidFill>
                          <a:latin typeface="Calibri"/>
                        </a:rPr>
                        <a:t>SNR_eq (dB)</a:t>
                      </a:r>
                    </a:p>
                  </a:txBody>
                  <a:tcPr>
                    <a:solidFill>
                      <a:srgbClr val="E8B549"/>
                    </a:solidFill>
                  </a:tcPr>
                </a:tc>
                <a:tc>
                  <a:txBody>
                    <a:bodyPr lIns="73152" rIns="73152" tIns="36576" bIns="36576"/>
                    <a:lstStyle/>
                    <a:p>
                      <a:pPr algn="l"/>
                      <a:r>
                        <a:rPr sz="1300" b="1">
                          <a:solidFill>
                            <a:srgbClr val="141A2B"/>
                          </a:solidFill>
                          <a:latin typeface="Calibri"/>
                        </a:rPr>
                        <a:t>V_eq (uV)</a:t>
                      </a:r>
                    </a:p>
                  </a:txBody>
                  <a:tcPr>
                    <a:solidFill>
                      <a:srgbClr val="E8B549"/>
                    </a:solidFill>
                  </a:tcPr>
                </a:tc>
                <a:tc>
                  <a:txBody>
                    <a:bodyPr lIns="73152" rIns="73152" tIns="36576" bIns="36576"/>
                    <a:lstStyle/>
                    <a:p>
                      <a:pPr algn="l"/>
                      <a:r>
                        <a:rPr sz="1300" b="1">
                          <a:solidFill>
                            <a:srgbClr val="141A2B"/>
                          </a:solidFill>
                          <a:latin typeface="Calibri"/>
                        </a:rPr>
                        <a:t>Verdict</a:t>
                      </a:r>
                    </a:p>
                  </a:txBody>
                  <a:tcPr>
                    <a:solidFill>
                      <a:srgbClr val="E8B549"/>
                    </a:solidFill>
                  </a:tcPr>
                </a:tc>
              </a:tr>
              <a:tr h="420624">
                <a:tc>
                  <a:txBody>
                    <a:bodyPr lIns="73152" rIns="73152" tIns="36576" bIns="36576"/>
                    <a:lstStyle/>
                    <a:p>
                      <a:pPr algn="l"/>
                      <a:r>
                        <a:rPr sz="1200" b="0">
                          <a:solidFill>
                            <a:srgbClr val="F5F1E8"/>
                          </a:solidFill>
                          <a:latin typeface="Calibri"/>
                        </a:rPr>
                        <a:t>Spalding</a:t>
                      </a:r>
                    </a:p>
                  </a:txBody>
                  <a:tcPr>
                    <a:solidFill>
                      <a:srgbClr val="141A2B"/>
                    </a:solidFill>
                  </a:tcPr>
                </a:tc>
                <a:tc>
                  <a:txBody>
                    <a:bodyPr lIns="73152" rIns="73152" tIns="36576" bIns="36576"/>
                    <a:lstStyle/>
                    <a:p>
                      <a:pPr algn="l"/>
                      <a:r>
                        <a:rPr sz="1200" b="0">
                          <a:solidFill>
                            <a:srgbClr val="F5F1E8"/>
                          </a:solidFill>
                          <a:latin typeface="Calibri"/>
                        </a:rPr>
                        <a:t>440</a:t>
                      </a:r>
                    </a:p>
                  </a:txBody>
                  <a:tcPr>
                    <a:solidFill>
                      <a:srgbClr val="141A2B"/>
                    </a:solidFill>
                  </a:tcPr>
                </a:tc>
                <a:tc>
                  <a:txBody>
                    <a:bodyPr lIns="73152" rIns="73152" tIns="36576" bIns="36576"/>
                    <a:lstStyle/>
                    <a:p>
                      <a:pPr algn="l"/>
                      <a:r>
                        <a:rPr sz="1200" b="0">
                          <a:solidFill>
                            <a:srgbClr val="F5F1E8"/>
                          </a:solidFill>
                          <a:latin typeface="Calibri"/>
                        </a:rPr>
                        <a:t>land</a:t>
                      </a:r>
                    </a:p>
                  </a:txBody>
                  <a:tcPr>
                    <a:solidFill>
                      <a:srgbClr val="141A2B"/>
                    </a:solidFill>
                  </a:tcPr>
                </a:tc>
                <a:tc>
                  <a:txBody>
                    <a:bodyPr lIns="73152" rIns="73152" tIns="36576" bIns="36576"/>
                    <a:lstStyle/>
                    <a:p>
                      <a:pPr algn="l"/>
                      <a:r>
                        <a:rPr sz="1200" b="0">
                          <a:solidFill>
                            <a:srgbClr val="F5F1E8"/>
                          </a:solidFill>
                          <a:latin typeface="Calibri"/>
                        </a:rPr>
                        <a:t>+47.1</a:t>
                      </a:r>
                    </a:p>
                  </a:txBody>
                  <a:tcPr>
                    <a:solidFill>
                      <a:srgbClr val="141A2B"/>
                    </a:solidFill>
                  </a:tcPr>
                </a:tc>
                <a:tc>
                  <a:txBody>
                    <a:bodyPr lIns="73152" rIns="73152" tIns="36576" bIns="36576"/>
                    <a:lstStyle/>
                    <a:p>
                      <a:pPr algn="l"/>
                      <a:r>
                        <a:rPr sz="1200" b="0">
                          <a:solidFill>
                            <a:srgbClr val="F5F1E8"/>
                          </a:solidFill>
                          <a:latin typeface="Calibri"/>
                        </a:rPr>
                        <a:t>17.081</a:t>
                      </a:r>
                    </a:p>
                  </a:txBody>
                  <a:tcPr>
                    <a:solidFill>
                      <a:srgbClr val="141A2B"/>
                    </a:solidFill>
                  </a:tcPr>
                </a:tc>
                <a:tc>
                  <a:txBody>
                    <a:bodyPr lIns="73152" rIns="73152" tIns="36576" bIns="36576"/>
                    <a:lstStyle/>
                    <a:p>
                      <a:pPr algn="l"/>
                      <a:r>
                        <a:rPr sz="1200" b="0">
                          <a:solidFill>
                            <a:srgbClr val="F5F1E8"/>
                          </a:solidFill>
                          <a:latin typeface="Calibri"/>
                        </a:rPr>
                        <a:t>PASS</a:t>
                      </a:r>
                    </a:p>
                  </a:txBody>
                  <a:tcPr>
                    <a:solidFill>
                      <a:srgbClr val="141A2B"/>
                    </a:solidFill>
                  </a:tcPr>
                </a:tc>
              </a:tr>
              <a:tr h="420624">
                <a:tc>
                  <a:txBody>
                    <a:bodyPr lIns="73152" rIns="73152" tIns="36576" bIns="36576"/>
                    <a:lstStyle/>
                    <a:p>
                      <a:pPr algn="l"/>
                      <a:r>
                        <a:rPr sz="1200" b="0">
                          <a:solidFill>
                            <a:srgbClr val="F5F1E8"/>
                          </a:solidFill>
                          <a:latin typeface="Calibri"/>
                        </a:rPr>
                        <a:t>Retford</a:t>
                      </a:r>
                    </a:p>
                  </a:txBody>
                  <a:tcPr>
                    <a:solidFill>
                      <a:srgbClr val="141A2B"/>
                    </a:solidFill>
                  </a:tcPr>
                </a:tc>
                <a:tc>
                  <a:txBody>
                    <a:bodyPr lIns="73152" rIns="73152" tIns="36576" bIns="36576"/>
                    <a:lstStyle/>
                    <a:p>
                      <a:pPr algn="l"/>
                      <a:r>
                        <a:rPr sz="1200" b="0">
                          <a:solidFill>
                            <a:srgbClr val="F5F1E8"/>
                          </a:solidFill>
                          <a:latin typeface="Calibri"/>
                        </a:rPr>
                        <a:t>512</a:t>
                      </a:r>
                    </a:p>
                  </a:txBody>
                  <a:tcPr>
                    <a:solidFill>
                      <a:srgbClr val="141A2B"/>
                    </a:solidFill>
                  </a:tcPr>
                </a:tc>
                <a:tc>
                  <a:txBody>
                    <a:bodyPr lIns="73152" rIns="73152" tIns="36576" bIns="36576"/>
                    <a:lstStyle/>
                    <a:p>
                      <a:pPr algn="l"/>
                      <a:r>
                        <a:rPr sz="1200" b="0">
                          <a:solidFill>
                            <a:srgbClr val="F5F1E8"/>
                          </a:solidFill>
                          <a:latin typeface="Calibri"/>
                        </a:rPr>
                        <a:t>land</a:t>
                      </a:r>
                    </a:p>
                  </a:txBody>
                  <a:tcPr>
                    <a:solidFill>
                      <a:srgbClr val="141A2B"/>
                    </a:solidFill>
                  </a:tcPr>
                </a:tc>
                <a:tc>
                  <a:txBody>
                    <a:bodyPr lIns="73152" rIns="73152" tIns="36576" bIns="36576"/>
                    <a:lstStyle/>
                    <a:p>
                      <a:pPr algn="l"/>
                      <a:r>
                        <a:rPr sz="1200" b="0">
                          <a:solidFill>
                            <a:srgbClr val="F5F1E8"/>
                          </a:solidFill>
                          <a:latin typeface="Calibri"/>
                        </a:rPr>
                        <a:t>+25.3</a:t>
                      </a:r>
                    </a:p>
                  </a:txBody>
                  <a:tcPr>
                    <a:solidFill>
                      <a:srgbClr val="141A2B"/>
                    </a:solidFill>
                  </a:tcPr>
                </a:tc>
                <a:tc>
                  <a:txBody>
                    <a:bodyPr lIns="73152" rIns="73152" tIns="36576" bIns="36576"/>
                    <a:lstStyle/>
                    <a:p>
                      <a:pPr algn="l"/>
                      <a:r>
                        <a:rPr sz="1200" b="0">
                          <a:solidFill>
                            <a:srgbClr val="F5F1E8"/>
                          </a:solidFill>
                          <a:latin typeface="Calibri"/>
                        </a:rPr>
                        <a:t>1.392</a:t>
                      </a:r>
                    </a:p>
                  </a:txBody>
                  <a:tcPr>
                    <a:solidFill>
                      <a:srgbClr val="141A2B"/>
                    </a:solidFill>
                  </a:tcPr>
                </a:tc>
                <a:tc>
                  <a:txBody>
                    <a:bodyPr lIns="73152" rIns="73152" tIns="36576" bIns="36576"/>
                    <a:lstStyle/>
                    <a:p>
                      <a:pPr algn="l"/>
                      <a:r>
                        <a:rPr sz="1200" b="0">
                          <a:solidFill>
                            <a:srgbClr val="F5F1E8"/>
                          </a:solidFill>
                          <a:latin typeface="Calibri"/>
                        </a:rPr>
                        <a:t>PASS</a:t>
                      </a:r>
                    </a:p>
                  </a:txBody>
                  <a:tcPr>
                    <a:solidFill>
                      <a:srgbClr val="141A2B"/>
                    </a:solidFill>
                  </a:tcPr>
                </a:tc>
              </a:tr>
              <a:tr h="420624">
                <a:tc>
                  <a:txBody>
                    <a:bodyPr lIns="73152" rIns="73152" tIns="36576" bIns="36576"/>
                    <a:lstStyle/>
                    <a:p>
                      <a:pPr algn="l"/>
                      <a:r>
                        <a:rPr sz="1200" b="0">
                          <a:solidFill>
                            <a:srgbClr val="F5F1E8"/>
                          </a:solidFill>
                          <a:latin typeface="Calibri"/>
                        </a:rPr>
                        <a:t>Derby</a:t>
                      </a:r>
                    </a:p>
                  </a:txBody>
                  <a:tcPr>
                    <a:solidFill>
                      <a:srgbClr val="141A2B"/>
                    </a:solidFill>
                  </a:tcPr>
                </a:tc>
                <a:tc>
                  <a:txBody>
                    <a:bodyPr lIns="73152" rIns="73152" tIns="36576" bIns="36576"/>
                    <a:lstStyle/>
                    <a:p>
                      <a:pPr algn="l"/>
                      <a:r>
                        <a:rPr sz="1200" b="0">
                          <a:solidFill>
                            <a:srgbClr val="F5F1E8"/>
                          </a:solidFill>
                          <a:latin typeface="Calibri"/>
                        </a:rPr>
                        <a:t>530</a:t>
                      </a:r>
                    </a:p>
                  </a:txBody>
                  <a:tcPr>
                    <a:solidFill>
                      <a:srgbClr val="141A2B"/>
                    </a:solidFill>
                  </a:tcPr>
                </a:tc>
                <a:tc>
                  <a:txBody>
                    <a:bodyPr lIns="73152" rIns="73152" tIns="36576" bIns="36576"/>
                    <a:lstStyle/>
                    <a:p>
                      <a:pPr algn="l"/>
                      <a:r>
                        <a:rPr sz="1200" b="0">
                          <a:solidFill>
                            <a:srgbClr val="F5F1E8"/>
                          </a:solidFill>
                          <a:latin typeface="Calibri"/>
                        </a:rPr>
                        <a:t>land</a:t>
                      </a:r>
                    </a:p>
                  </a:txBody>
                  <a:tcPr>
                    <a:solidFill>
                      <a:srgbClr val="141A2B"/>
                    </a:solidFill>
                  </a:tcPr>
                </a:tc>
                <a:tc>
                  <a:txBody>
                    <a:bodyPr lIns="73152" rIns="73152" tIns="36576" bIns="36576"/>
                    <a:lstStyle/>
                    <a:p>
                      <a:pPr algn="l"/>
                      <a:r>
                        <a:rPr sz="1200" b="0">
                          <a:solidFill>
                            <a:srgbClr val="F5F1E8"/>
                          </a:solidFill>
                          <a:latin typeface="Calibri"/>
                        </a:rPr>
                        <a:t>+20.0</a:t>
                      </a:r>
                    </a:p>
                  </a:txBody>
                  <a:tcPr>
                    <a:solidFill>
                      <a:srgbClr val="141A2B"/>
                    </a:solidFill>
                  </a:tcPr>
                </a:tc>
                <a:tc>
                  <a:txBody>
                    <a:bodyPr lIns="73152" rIns="73152" tIns="36576" bIns="36576"/>
                    <a:lstStyle/>
                    <a:p>
                      <a:pPr algn="l"/>
                      <a:r>
                        <a:rPr sz="1200" b="0">
                          <a:solidFill>
                            <a:srgbClr val="F5F1E8"/>
                          </a:solidFill>
                          <a:latin typeface="Calibri"/>
                        </a:rPr>
                        <a:t>0.755</a:t>
                      </a:r>
                    </a:p>
                  </a:txBody>
                  <a:tcPr>
                    <a:solidFill>
                      <a:srgbClr val="141A2B"/>
                    </a:solidFill>
                  </a:tcPr>
                </a:tc>
                <a:tc>
                  <a:txBody>
                    <a:bodyPr lIns="73152" rIns="73152" tIns="36576" bIns="36576"/>
                    <a:lstStyle/>
                    <a:p>
                      <a:pPr algn="l"/>
                      <a:r>
                        <a:rPr sz="1200" b="0">
                          <a:solidFill>
                            <a:srgbClr val="F5F1E8"/>
                          </a:solidFill>
                          <a:latin typeface="Calibri"/>
                        </a:rPr>
                        <a:t>PASS</a:t>
                      </a:r>
                    </a:p>
                  </a:txBody>
                  <a:tcPr>
                    <a:solidFill>
                      <a:srgbClr val="141A2B"/>
                    </a:solidFill>
                  </a:tcPr>
                </a:tc>
              </a:tr>
              <a:tr h="420624">
                <a:tc>
                  <a:txBody>
                    <a:bodyPr lIns="73152" rIns="73152" tIns="36576" bIns="36576"/>
                    <a:lstStyle/>
                    <a:p>
                      <a:pPr algn="l"/>
                      <a:r>
                        <a:rPr sz="1200" b="0">
                          <a:solidFill>
                            <a:srgbClr val="F5F1E8"/>
                          </a:solidFill>
                          <a:latin typeface="Calibri"/>
                        </a:rPr>
                        <a:t>Birmingham</a:t>
                      </a:r>
                    </a:p>
                  </a:txBody>
                  <a:tcPr>
                    <a:solidFill>
                      <a:srgbClr val="141A2B"/>
                    </a:solidFill>
                  </a:tcPr>
                </a:tc>
                <a:tc>
                  <a:txBody>
                    <a:bodyPr lIns="73152" rIns="73152" tIns="36576" bIns="36576"/>
                    <a:lstStyle/>
                    <a:p>
                      <a:pPr algn="l"/>
                      <a:r>
                        <a:rPr sz="1200" b="0">
                          <a:solidFill>
                            <a:srgbClr val="F5F1E8"/>
                          </a:solidFill>
                          <a:latin typeface="Calibri"/>
                        </a:rPr>
                        <a:t>551</a:t>
                      </a:r>
                    </a:p>
                  </a:txBody>
                  <a:tcPr>
                    <a:solidFill>
                      <a:srgbClr val="141A2B"/>
                    </a:solidFill>
                  </a:tcPr>
                </a:tc>
                <a:tc>
                  <a:txBody>
                    <a:bodyPr lIns="73152" rIns="73152" tIns="36576" bIns="36576"/>
                    <a:lstStyle/>
                    <a:p>
                      <a:pPr algn="l"/>
                      <a:r>
                        <a:rPr sz="1200" b="0">
                          <a:solidFill>
                            <a:srgbClr val="F5F1E8"/>
                          </a:solidFill>
                          <a:latin typeface="Calibri"/>
                        </a:rPr>
                        <a:t>land</a:t>
                      </a:r>
                    </a:p>
                  </a:txBody>
                  <a:tcPr>
                    <a:solidFill>
                      <a:srgbClr val="141A2B"/>
                    </a:solidFill>
                  </a:tcPr>
                </a:tc>
                <a:tc>
                  <a:txBody>
                    <a:bodyPr lIns="73152" rIns="73152" tIns="36576" bIns="36576"/>
                    <a:lstStyle/>
                    <a:p>
                      <a:pPr algn="l"/>
                      <a:r>
                        <a:rPr sz="1200" b="0">
                          <a:solidFill>
                            <a:srgbClr val="F5F1E8"/>
                          </a:solidFill>
                          <a:latin typeface="Calibri"/>
                        </a:rPr>
                        <a:t>+13.7</a:t>
                      </a:r>
                    </a:p>
                  </a:txBody>
                  <a:tcPr>
                    <a:solidFill>
                      <a:srgbClr val="141A2B"/>
                    </a:solidFill>
                  </a:tcPr>
                </a:tc>
                <a:tc>
                  <a:txBody>
                    <a:bodyPr lIns="73152" rIns="73152" tIns="36576" bIns="36576"/>
                    <a:lstStyle/>
                    <a:p>
                      <a:pPr algn="l"/>
                      <a:r>
                        <a:rPr sz="1200" b="0">
                          <a:solidFill>
                            <a:srgbClr val="F5F1E8"/>
                          </a:solidFill>
                          <a:latin typeface="Calibri"/>
                        </a:rPr>
                        <a:t>0.363</a:t>
                      </a:r>
                    </a:p>
                  </a:txBody>
                  <a:tcPr>
                    <a:solidFill>
                      <a:srgbClr val="141A2B"/>
                    </a:solidFill>
                  </a:tcPr>
                </a:tc>
                <a:tc>
                  <a:txBody>
                    <a:bodyPr lIns="73152" rIns="73152" tIns="36576" bIns="36576"/>
                    <a:lstStyle/>
                    <a:p>
                      <a:pPr algn="l"/>
                      <a:r>
                        <a:rPr sz="1200" b="0">
                          <a:solidFill>
                            <a:srgbClr val="F5F1E8"/>
                          </a:solidFill>
                          <a:latin typeface="Calibri"/>
                        </a:rPr>
                        <a:t>PASS</a:t>
                      </a:r>
                    </a:p>
                  </a:txBody>
                  <a:tcPr>
                    <a:solidFill>
                      <a:srgbClr val="141A2B"/>
                    </a:solidFill>
                  </a:tcPr>
                </a:tc>
              </a:tr>
              <a:tr h="420624">
                <a:tc>
                  <a:txBody>
                    <a:bodyPr lIns="73152" rIns="73152" tIns="36576" bIns="36576"/>
                    <a:lstStyle/>
                    <a:p>
                      <a:pPr algn="l"/>
                      <a:r>
                        <a:rPr sz="1200" b="0">
                          <a:solidFill>
                            <a:srgbClr val="F5F1E8"/>
                          </a:solidFill>
                          <a:latin typeface="Calibri"/>
                        </a:rPr>
                        <a:t>TF 400 km</a:t>
                      </a:r>
                    </a:p>
                  </a:txBody>
                  <a:tcPr>
                    <a:solidFill>
                      <a:srgbClr val="141A2B"/>
                    </a:solidFill>
                  </a:tcPr>
                </a:tc>
                <a:tc>
                  <a:txBody>
                    <a:bodyPr lIns="73152" rIns="73152" tIns="36576" bIns="36576"/>
                    <a:lstStyle/>
                    <a:p>
                      <a:pPr algn="l"/>
                      <a:r>
                        <a:rPr sz="1200" b="0">
                          <a:solidFill>
                            <a:srgbClr val="F5F1E8"/>
                          </a:solidFill>
                          <a:latin typeface="Calibri"/>
                        </a:rPr>
                        <a:t>392</a:t>
                      </a:r>
                    </a:p>
                  </a:txBody>
                  <a:tcPr>
                    <a:solidFill>
                      <a:srgbClr val="141A2B"/>
                    </a:solidFill>
                  </a:tcPr>
                </a:tc>
                <a:tc>
                  <a:txBody>
                    <a:bodyPr lIns="73152" rIns="73152" tIns="36576" bIns="36576"/>
                    <a:lstStyle/>
                    <a:p>
                      <a:pPr algn="l"/>
                      <a:r>
                        <a:rPr sz="1200" b="0">
                          <a:solidFill>
                            <a:srgbClr val="F5F1E8"/>
                          </a:solidFill>
                          <a:latin typeface="Calibri"/>
                        </a:rPr>
                        <a:t>sea</a:t>
                      </a:r>
                    </a:p>
                  </a:txBody>
                  <a:tcPr>
                    <a:solidFill>
                      <a:srgbClr val="141A2B"/>
                    </a:solidFill>
                  </a:tcPr>
                </a:tc>
                <a:tc>
                  <a:txBody>
                    <a:bodyPr lIns="73152" rIns="73152" tIns="36576" bIns="36576"/>
                    <a:lstStyle/>
                    <a:p>
                      <a:pPr algn="l"/>
                      <a:r>
                        <a:rPr sz="1200" b="0">
                          <a:solidFill>
                            <a:srgbClr val="F5F1E8"/>
                          </a:solidFill>
                          <a:latin typeface="Calibri"/>
                        </a:rPr>
                        <a:t>+48.6</a:t>
                      </a:r>
                    </a:p>
                  </a:txBody>
                  <a:tcPr>
                    <a:solidFill>
                      <a:srgbClr val="141A2B"/>
                    </a:solidFill>
                  </a:tcPr>
                </a:tc>
                <a:tc>
                  <a:txBody>
                    <a:bodyPr lIns="73152" rIns="73152" tIns="36576" bIns="36576"/>
                    <a:lstStyle/>
                    <a:p>
                      <a:pPr algn="l"/>
                      <a:r>
                        <a:rPr sz="1200" b="0">
                          <a:solidFill>
                            <a:srgbClr val="F5F1E8"/>
                          </a:solidFill>
                          <a:latin typeface="Calibri"/>
                        </a:rPr>
                        <a:t>20.330</a:t>
                      </a:r>
                    </a:p>
                  </a:txBody>
                  <a:tcPr>
                    <a:solidFill>
                      <a:srgbClr val="141A2B"/>
                    </a:solidFill>
                  </a:tcPr>
                </a:tc>
                <a:tc>
                  <a:txBody>
                    <a:bodyPr lIns="73152" rIns="73152" tIns="36576" bIns="36576"/>
                    <a:lstStyle/>
                    <a:p>
                      <a:pPr algn="l"/>
                      <a:r>
                        <a:rPr sz="1200" b="0">
                          <a:solidFill>
                            <a:srgbClr val="F5F1E8"/>
                          </a:solidFill>
                          <a:latin typeface="Calibri"/>
                        </a:rPr>
                        <a:t>PASS</a:t>
                      </a:r>
                    </a:p>
                  </a:txBody>
                  <a:tcPr>
                    <a:solidFill>
                      <a:srgbClr val="141A2B"/>
                    </a:solidFill>
                  </a:tcPr>
                </a:tc>
              </a:tr>
              <a:tr h="420624">
                <a:tc>
                  <a:txBody>
                    <a:bodyPr lIns="73152" rIns="73152" tIns="36576" bIns="36576"/>
                    <a:lstStyle/>
                    <a:p>
                      <a:pPr algn="l"/>
                      <a:r>
                        <a:rPr sz="1200" b="0">
                          <a:solidFill>
                            <a:srgbClr val="F5F1E8"/>
                          </a:solidFill>
                          <a:latin typeface="Calibri"/>
                        </a:rPr>
                        <a:t>TF 500 km</a:t>
                      </a:r>
                    </a:p>
                  </a:txBody>
                  <a:tcPr>
                    <a:solidFill>
                      <a:srgbClr val="141A2B"/>
                    </a:solidFill>
                  </a:tcPr>
                </a:tc>
                <a:tc>
                  <a:txBody>
                    <a:bodyPr lIns="73152" rIns="73152" tIns="36576" bIns="36576"/>
                    <a:lstStyle/>
                    <a:p>
                      <a:pPr algn="l"/>
                      <a:r>
                        <a:rPr sz="1200" b="0">
                          <a:solidFill>
                            <a:srgbClr val="F5F1E8"/>
                          </a:solidFill>
                          <a:latin typeface="Calibri"/>
                        </a:rPr>
                        <a:t>450</a:t>
                      </a:r>
                    </a:p>
                  </a:txBody>
                  <a:tcPr>
                    <a:solidFill>
                      <a:srgbClr val="141A2B"/>
                    </a:solidFill>
                  </a:tcPr>
                </a:tc>
                <a:tc>
                  <a:txBody>
                    <a:bodyPr lIns="73152" rIns="73152" tIns="36576" bIns="36576"/>
                    <a:lstStyle/>
                    <a:p>
                      <a:pPr algn="l"/>
                      <a:r>
                        <a:rPr sz="1200" b="0">
                          <a:solidFill>
                            <a:srgbClr val="F5F1E8"/>
                          </a:solidFill>
                          <a:latin typeface="Calibri"/>
                        </a:rPr>
                        <a:t>sea</a:t>
                      </a:r>
                    </a:p>
                  </a:txBody>
                  <a:tcPr>
                    <a:solidFill>
                      <a:srgbClr val="141A2B"/>
                    </a:solidFill>
                  </a:tcPr>
                </a:tc>
                <a:tc>
                  <a:txBody>
                    <a:bodyPr lIns="73152" rIns="73152" tIns="36576" bIns="36576"/>
                    <a:lstStyle/>
                    <a:p>
                      <a:pPr algn="l"/>
                      <a:r>
                        <a:rPr sz="1200" b="0">
                          <a:solidFill>
                            <a:srgbClr val="F5F1E8"/>
                          </a:solidFill>
                          <a:latin typeface="Calibri"/>
                        </a:rPr>
                        <a:t>+34.4</a:t>
                      </a:r>
                    </a:p>
                  </a:txBody>
                  <a:tcPr>
                    <a:solidFill>
                      <a:srgbClr val="141A2B"/>
                    </a:solidFill>
                  </a:tcPr>
                </a:tc>
                <a:tc>
                  <a:txBody>
                    <a:bodyPr lIns="73152" rIns="73152" tIns="36576" bIns="36576"/>
                    <a:lstStyle/>
                    <a:p>
                      <a:pPr algn="l"/>
                      <a:r>
                        <a:rPr sz="1200" b="0">
                          <a:solidFill>
                            <a:srgbClr val="F5F1E8"/>
                          </a:solidFill>
                          <a:latin typeface="Calibri"/>
                        </a:rPr>
                        <a:t>3.956</a:t>
                      </a:r>
                    </a:p>
                  </a:txBody>
                  <a:tcPr>
                    <a:solidFill>
                      <a:srgbClr val="141A2B"/>
                    </a:solidFill>
                  </a:tcPr>
                </a:tc>
                <a:tc>
                  <a:txBody>
                    <a:bodyPr lIns="73152" rIns="73152" tIns="36576" bIns="36576"/>
                    <a:lstStyle/>
                    <a:p>
                      <a:pPr algn="l"/>
                      <a:r>
                        <a:rPr sz="1200" b="0">
                          <a:solidFill>
                            <a:srgbClr val="F5F1E8"/>
                          </a:solidFill>
                          <a:latin typeface="Calibri"/>
                        </a:rPr>
                        <a:t>PASS</a:t>
                      </a:r>
                    </a:p>
                  </a:txBody>
                  <a:tcPr>
                    <a:solidFill>
                      <a:srgbClr val="141A2B"/>
                    </a:solidFill>
                  </a:tcPr>
                </a:tc>
              </a:tr>
              <a:tr h="420624">
                <a:tc>
                  <a:txBody>
                    <a:bodyPr lIns="73152" rIns="73152" tIns="36576" bIns="36576"/>
                    <a:lstStyle/>
                    <a:p>
                      <a:pPr algn="l"/>
                      <a:r>
                        <a:rPr sz="1200" b="0">
                          <a:solidFill>
                            <a:srgbClr val="F5F1E8"/>
                          </a:solidFill>
                          <a:latin typeface="Calibri"/>
                        </a:rPr>
                        <a:t>TF 700 km</a:t>
                      </a:r>
                    </a:p>
                  </a:txBody>
                  <a:tcPr>
                    <a:solidFill>
                      <a:srgbClr val="141A2B"/>
                    </a:solidFill>
                  </a:tcPr>
                </a:tc>
                <a:tc>
                  <a:txBody>
                    <a:bodyPr lIns="73152" rIns="73152" tIns="36576" bIns="36576"/>
                    <a:lstStyle/>
                    <a:p>
                      <a:pPr algn="l"/>
                      <a:r>
                        <a:rPr sz="1200" b="0">
                          <a:solidFill>
                            <a:srgbClr val="F5F1E8"/>
                          </a:solidFill>
                          <a:latin typeface="Calibri"/>
                        </a:rPr>
                        <a:t>607</a:t>
                      </a:r>
                    </a:p>
                  </a:txBody>
                  <a:tcPr>
                    <a:solidFill>
                      <a:srgbClr val="141A2B"/>
                    </a:solidFill>
                  </a:tcPr>
                </a:tc>
                <a:tc>
                  <a:txBody>
                    <a:bodyPr lIns="73152" rIns="73152" tIns="36576" bIns="36576"/>
                    <a:lstStyle/>
                    <a:p>
                      <a:pPr algn="l"/>
                      <a:r>
                        <a:rPr sz="1200" b="0">
                          <a:solidFill>
                            <a:srgbClr val="F5F1E8"/>
                          </a:solidFill>
                          <a:latin typeface="Calibri"/>
                        </a:rPr>
                        <a:t>sea</a:t>
                      </a:r>
                    </a:p>
                  </a:txBody>
                  <a:tcPr>
                    <a:solidFill>
                      <a:srgbClr val="141A2B"/>
                    </a:solidFill>
                  </a:tcPr>
                </a:tc>
                <a:tc>
                  <a:txBody>
                    <a:bodyPr lIns="73152" rIns="73152" tIns="36576" bIns="36576"/>
                    <a:lstStyle/>
                    <a:p>
                      <a:pPr algn="l"/>
                      <a:r>
                        <a:rPr sz="1200" b="0">
                          <a:solidFill>
                            <a:srgbClr val="F5F1E8"/>
                          </a:solidFill>
                          <a:latin typeface="Calibri"/>
                        </a:rPr>
                        <a:t>-4.1</a:t>
                      </a:r>
                    </a:p>
                  </a:txBody>
                  <a:tcPr>
                    <a:solidFill>
                      <a:srgbClr val="141A2B"/>
                    </a:solidFill>
                  </a:tcPr>
                </a:tc>
                <a:tc>
                  <a:txBody>
                    <a:bodyPr lIns="73152" rIns="73152" tIns="36576" bIns="36576"/>
                    <a:lstStyle/>
                    <a:p>
                      <a:pPr algn="l"/>
                      <a:r>
                        <a:rPr sz="1200" b="0">
                          <a:solidFill>
                            <a:srgbClr val="F5F1E8"/>
                          </a:solidFill>
                          <a:latin typeface="Calibri"/>
                        </a:rPr>
                        <a:t>0.047</a:t>
                      </a:r>
                    </a:p>
                  </a:txBody>
                  <a:tcPr>
                    <a:solidFill>
                      <a:srgbClr val="141A2B"/>
                    </a:solidFill>
                  </a:tcPr>
                </a:tc>
                <a:tc>
                  <a:txBody>
                    <a:bodyPr lIns="73152" rIns="73152" tIns="36576" bIns="36576"/>
                    <a:lstStyle/>
                    <a:p>
                      <a:pPr algn="l"/>
                      <a:r>
                        <a:rPr sz="1200" b="0">
                          <a:solidFill>
                            <a:srgbClr val="F5F1E8"/>
                          </a:solidFill>
                          <a:latin typeface="Calibri"/>
                        </a:rPr>
                        <a:t>FAIL</a:t>
                      </a:r>
                    </a:p>
                  </a:txBody>
                  <a:tcPr>
                    <a:solidFill>
                      <a:srgbClr val="141A2B"/>
                    </a:solidFill>
                  </a:tcPr>
                </a:tc>
              </a:tr>
              <a:tr h="420624">
                <a:tc>
                  <a:txBody>
                    <a:bodyPr lIns="73152" rIns="73152" tIns="36576" bIns="36576"/>
                    <a:lstStyle/>
                    <a:p>
                      <a:pPr algn="l"/>
                      <a:r>
                        <a:rPr sz="1200" b="0">
                          <a:solidFill>
                            <a:srgbClr val="F5F1E8"/>
                          </a:solidFill>
                          <a:latin typeface="Calibri"/>
                        </a:rPr>
                        <a:t>TF 800 km</a:t>
                      </a:r>
                    </a:p>
                  </a:txBody>
                  <a:tcPr>
                    <a:solidFill>
                      <a:srgbClr val="141A2B"/>
                    </a:solidFill>
                  </a:tcPr>
                </a:tc>
                <a:tc>
                  <a:txBody>
                    <a:bodyPr lIns="73152" rIns="73152" tIns="36576" bIns="36576"/>
                    <a:lstStyle/>
                    <a:p>
                      <a:pPr algn="l"/>
                      <a:r>
                        <a:rPr sz="1200" b="0">
                          <a:solidFill>
                            <a:srgbClr val="F5F1E8"/>
                          </a:solidFill>
                          <a:latin typeface="Calibri"/>
                        </a:rPr>
                        <a:t>696</a:t>
                      </a:r>
                    </a:p>
                  </a:txBody>
                  <a:tcPr>
                    <a:solidFill>
                      <a:srgbClr val="141A2B"/>
                    </a:solidFill>
                  </a:tcPr>
                </a:tc>
                <a:tc>
                  <a:txBody>
                    <a:bodyPr lIns="73152" rIns="73152" tIns="36576" bIns="36576"/>
                    <a:lstStyle/>
                    <a:p>
                      <a:pPr algn="l"/>
                      <a:r>
                        <a:rPr sz="1200" b="0">
                          <a:solidFill>
                            <a:srgbClr val="F5F1E8"/>
                          </a:solidFill>
                          <a:latin typeface="Calibri"/>
                        </a:rPr>
                        <a:t>sea</a:t>
                      </a:r>
                    </a:p>
                  </a:txBody>
                  <a:tcPr>
                    <a:solidFill>
                      <a:srgbClr val="141A2B"/>
                    </a:solidFill>
                  </a:tcPr>
                </a:tc>
                <a:tc>
                  <a:txBody>
                    <a:bodyPr lIns="73152" rIns="73152" tIns="36576" bIns="36576"/>
                    <a:lstStyle/>
                    <a:p>
                      <a:pPr algn="l"/>
                      <a:r>
                        <a:rPr sz="1200" b="0">
                          <a:solidFill>
                            <a:srgbClr val="F5F1E8"/>
                          </a:solidFill>
                          <a:latin typeface="Calibri"/>
                        </a:rPr>
                        <a:t>-25.8</a:t>
                      </a:r>
                    </a:p>
                  </a:txBody>
                  <a:tcPr>
                    <a:solidFill>
                      <a:srgbClr val="141A2B"/>
                    </a:solidFill>
                  </a:tcPr>
                </a:tc>
                <a:tc>
                  <a:txBody>
                    <a:bodyPr lIns="73152" rIns="73152" tIns="36576" bIns="36576"/>
                    <a:lstStyle/>
                    <a:p>
                      <a:pPr algn="l"/>
                      <a:r>
                        <a:rPr sz="1200" b="0">
                          <a:solidFill>
                            <a:srgbClr val="F5F1E8"/>
                          </a:solidFill>
                          <a:latin typeface="Calibri"/>
                        </a:rPr>
                        <a:t>3.89e-03</a:t>
                      </a:r>
                    </a:p>
                  </a:txBody>
                  <a:tcPr>
                    <a:solidFill>
                      <a:srgbClr val="141A2B"/>
                    </a:solidFill>
                  </a:tcPr>
                </a:tc>
                <a:tc>
                  <a:txBody>
                    <a:bodyPr lIns="73152" rIns="73152" tIns="36576" bIns="36576"/>
                    <a:lstStyle/>
                    <a:p>
                      <a:pPr algn="l"/>
                      <a:r>
                        <a:rPr sz="1200" b="0">
                          <a:solidFill>
                            <a:srgbClr val="F5F1E8"/>
                          </a:solidFill>
                          <a:latin typeface="Calibri"/>
                        </a:rPr>
                        <a:t>FAIL</a:t>
                      </a:r>
                    </a:p>
                  </a:txBody>
                  <a:tcPr>
                    <a:solidFill>
                      <a:srgbClr val="141A2B"/>
                    </a:solidFill>
                  </a:tcPr>
                </a:tc>
              </a:tr>
              <a:tr h="420624">
                <a:tc>
                  <a:txBody>
                    <a:bodyPr lIns="73152" rIns="73152" tIns="36576" bIns="36576"/>
                    <a:lstStyle/>
                    <a:p>
                      <a:pPr algn="l"/>
                      <a:r>
                        <a:rPr sz="1200" b="0">
                          <a:solidFill>
                            <a:srgbClr val="F5F1E8"/>
                          </a:solidFill>
                          <a:latin typeface="Calibri"/>
                        </a:rPr>
                        <a:t>TF 1000 km</a:t>
                      </a:r>
                    </a:p>
                  </a:txBody>
                  <a:tcPr>
                    <a:solidFill>
                      <a:srgbClr val="141A2B"/>
                    </a:solidFill>
                  </a:tcPr>
                </a:tc>
                <a:tc>
                  <a:txBody>
                    <a:bodyPr lIns="73152" rIns="73152" tIns="36576" bIns="36576"/>
                    <a:lstStyle/>
                    <a:p>
                      <a:pPr algn="l"/>
                      <a:r>
                        <a:rPr sz="1200" b="0">
                          <a:solidFill>
                            <a:srgbClr val="F5F1E8"/>
                          </a:solidFill>
                          <a:latin typeface="Calibri"/>
                        </a:rPr>
                        <a:t>874</a:t>
                      </a:r>
                    </a:p>
                  </a:txBody>
                  <a:tcPr>
                    <a:solidFill>
                      <a:srgbClr val="141A2B"/>
                    </a:solidFill>
                  </a:tcPr>
                </a:tc>
                <a:tc>
                  <a:txBody>
                    <a:bodyPr lIns="73152" rIns="73152" tIns="36576" bIns="36576"/>
                    <a:lstStyle/>
                    <a:p>
                      <a:pPr algn="l"/>
                      <a:r>
                        <a:rPr sz="1200" b="0">
                          <a:solidFill>
                            <a:srgbClr val="F5F1E8"/>
                          </a:solidFill>
                          <a:latin typeface="Calibri"/>
                        </a:rPr>
                        <a:t>sea</a:t>
                      </a:r>
                    </a:p>
                  </a:txBody>
                  <a:tcPr>
                    <a:solidFill>
                      <a:srgbClr val="141A2B"/>
                    </a:solidFill>
                  </a:tcPr>
                </a:tc>
                <a:tc>
                  <a:txBody>
                    <a:bodyPr lIns="73152" rIns="73152" tIns="36576" bIns="36576"/>
                    <a:lstStyle/>
                    <a:p>
                      <a:pPr algn="l"/>
                      <a:r>
                        <a:rPr sz="1200" b="0">
                          <a:solidFill>
                            <a:srgbClr val="F5F1E8"/>
                          </a:solidFill>
                          <a:latin typeface="Calibri"/>
                        </a:rPr>
                        <a:t>-68.9</a:t>
                      </a:r>
                    </a:p>
                  </a:txBody>
                  <a:tcPr>
                    <a:solidFill>
                      <a:srgbClr val="141A2B"/>
                    </a:solidFill>
                  </a:tcPr>
                </a:tc>
                <a:tc>
                  <a:txBody>
                    <a:bodyPr lIns="73152" rIns="73152" tIns="36576" bIns="36576"/>
                    <a:lstStyle/>
                    <a:p>
                      <a:pPr algn="l"/>
                      <a:r>
                        <a:rPr sz="1200" b="0">
                          <a:solidFill>
                            <a:srgbClr val="F5F1E8"/>
                          </a:solidFill>
                          <a:latin typeface="Calibri"/>
                        </a:rPr>
                        <a:t>2.70e-05</a:t>
                      </a:r>
                    </a:p>
                  </a:txBody>
                  <a:tcPr>
                    <a:solidFill>
                      <a:srgbClr val="141A2B"/>
                    </a:solidFill>
                  </a:tcPr>
                </a:tc>
                <a:tc>
                  <a:txBody>
                    <a:bodyPr lIns="73152" rIns="73152" tIns="36576" bIns="36576"/>
                    <a:lstStyle/>
                    <a:p>
                      <a:pPr algn="l"/>
                      <a:r>
                        <a:rPr sz="1200" b="0">
                          <a:solidFill>
                            <a:srgbClr val="F5F1E8"/>
                          </a:solidFill>
                          <a:latin typeface="Calibri"/>
                        </a:rPr>
                        <a:t>FAIL</a:t>
                      </a:r>
                    </a:p>
                  </a:txBody>
                  <a:tcPr>
                    <a:solidFill>
                      <a:srgbClr val="141A2B"/>
                    </a:solidFill>
                  </a:tcPr>
                </a:tc>
              </a:tr>
            </a:tbl>
          </a:graphicData>
        </a:graphic>
      </p:graphicFrame>
      <p:sp>
        <p:nvSpPr>
          <p:cNvPr id="8" name="TextBox 7"/>
          <p:cNvSpPr txBox="1"/>
          <p:nvPr/>
        </p:nvSpPr>
        <p:spPr>
          <a:xfrm>
            <a:off x="640080" y="5852160"/>
            <a:ext cx="10972800" cy="5486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300" b="0">
                <a:solidFill>
                  <a:srgbClr val="E8B549"/>
                </a:solidFill>
                <a:latin typeface="Calibri"/>
              </a:rPr>
              <a:t>Director beam over land: every confirmed Midlands target clears the +10 dB detection floor on the globe.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141A2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3" name="Picture 2" descr="aether_cosmology_logo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74320" y="274320"/>
            <a:ext cx="822960" cy="822960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1371600" y="320040"/>
            <a:ext cx="10058400" cy="5943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2800" b="1">
                <a:solidFill>
                  <a:srgbClr val="F5F1E8"/>
                </a:solidFill>
                <a:latin typeface="Calibri"/>
              </a:rPr>
              <a:t>Results: Stollberg cross beam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371600" y="777240"/>
            <a:ext cx="1005840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400" b="0">
                <a:solidFill>
                  <a:srgbClr val="E8B549"/>
                </a:solidFill>
                <a:latin typeface="Calibri"/>
              </a:rPr>
              <a:t>Globe Fock, 5 degree squint, sea path, beta = 0.81</a:t>
            </a:r>
          </a:p>
        </p:txBody>
      </p:sp>
      <p:sp>
        <p:nvSpPr>
          <p:cNvPr id="6" name="Rectangle 5"/>
          <p:cNvSpPr/>
          <p:nvPr/>
        </p:nvSpPr>
        <p:spPr>
          <a:xfrm>
            <a:off x="457200" y="1188720"/>
            <a:ext cx="11277295" cy="40000"/>
          </a:xfrm>
          <a:prstGeom prst="rect">
            <a:avLst/>
          </a:prstGeom>
          <a:solidFill>
            <a:srgbClr val="E8B54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graphicFrame>
        <p:nvGraphicFramePr>
          <p:cNvPr id="7" name="Table 6"/>
          <p:cNvGraphicFramePr>
            <a:graphicFrameLocks noGrp="1"/>
          </p:cNvGraphicFramePr>
          <p:nvPr/>
        </p:nvGraphicFramePr>
        <p:xfrm>
          <a:off x="457200" y="1463040"/>
          <a:ext cx="11247120" cy="420624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874520"/>
                <a:gridCol w="1874520"/>
                <a:gridCol w="1874520"/>
                <a:gridCol w="1874520"/>
                <a:gridCol w="1874520"/>
                <a:gridCol w="1874520"/>
              </a:tblGrid>
              <a:tr h="420624">
                <a:tc>
                  <a:txBody>
                    <a:bodyPr lIns="73152" rIns="73152" tIns="36576" bIns="36576"/>
                    <a:lstStyle/>
                    <a:p>
                      <a:pPr algn="l"/>
                      <a:r>
                        <a:rPr sz="1300" b="1">
                          <a:solidFill>
                            <a:srgbClr val="141A2B"/>
                          </a:solidFill>
                          <a:latin typeface="Calibri"/>
                        </a:rPr>
                        <a:t>Target</a:t>
                      </a:r>
                    </a:p>
                  </a:txBody>
                  <a:tcPr>
                    <a:solidFill>
                      <a:srgbClr val="E8B549"/>
                    </a:solidFill>
                  </a:tcPr>
                </a:tc>
                <a:tc>
                  <a:txBody>
                    <a:bodyPr lIns="73152" rIns="73152" tIns="36576" bIns="36576"/>
                    <a:lstStyle/>
                    <a:p>
                      <a:pPr algn="l"/>
                      <a:r>
                        <a:rPr sz="1300" b="1">
                          <a:solidFill>
                            <a:srgbClr val="141A2B"/>
                          </a:solidFill>
                          <a:latin typeface="Calibri"/>
                        </a:rPr>
                        <a:t>d (km)</a:t>
                      </a:r>
                    </a:p>
                  </a:txBody>
                  <a:tcPr>
                    <a:solidFill>
                      <a:srgbClr val="E8B549"/>
                    </a:solidFill>
                  </a:tcPr>
                </a:tc>
                <a:tc>
                  <a:txBody>
                    <a:bodyPr lIns="73152" rIns="73152" tIns="36576" bIns="36576"/>
                    <a:lstStyle/>
                    <a:p>
                      <a:pPr algn="l"/>
                      <a:r>
                        <a:rPr sz="1300" b="1">
                          <a:solidFill>
                            <a:srgbClr val="141A2B"/>
                          </a:solidFill>
                          <a:latin typeface="Calibri"/>
                        </a:rPr>
                        <a:t>Ground</a:t>
                      </a:r>
                    </a:p>
                  </a:txBody>
                  <a:tcPr>
                    <a:solidFill>
                      <a:srgbClr val="E8B549"/>
                    </a:solidFill>
                  </a:tcPr>
                </a:tc>
                <a:tc>
                  <a:txBody>
                    <a:bodyPr lIns="73152" rIns="73152" tIns="36576" bIns="36576"/>
                    <a:lstStyle/>
                    <a:p>
                      <a:pPr algn="l"/>
                      <a:r>
                        <a:rPr sz="1300" b="1">
                          <a:solidFill>
                            <a:srgbClr val="141A2B"/>
                          </a:solidFill>
                          <a:latin typeface="Calibri"/>
                        </a:rPr>
                        <a:t>SNR_eq (dB)</a:t>
                      </a:r>
                    </a:p>
                  </a:txBody>
                  <a:tcPr>
                    <a:solidFill>
                      <a:srgbClr val="E8B549"/>
                    </a:solidFill>
                  </a:tcPr>
                </a:tc>
                <a:tc>
                  <a:txBody>
                    <a:bodyPr lIns="73152" rIns="73152" tIns="36576" bIns="36576"/>
                    <a:lstStyle/>
                    <a:p>
                      <a:pPr algn="l"/>
                      <a:r>
                        <a:rPr sz="1300" b="1">
                          <a:solidFill>
                            <a:srgbClr val="141A2B"/>
                          </a:solidFill>
                          <a:latin typeface="Calibri"/>
                        </a:rPr>
                        <a:t>V_eq (uV)</a:t>
                      </a:r>
                    </a:p>
                  </a:txBody>
                  <a:tcPr>
                    <a:solidFill>
                      <a:srgbClr val="E8B549"/>
                    </a:solidFill>
                  </a:tcPr>
                </a:tc>
                <a:tc>
                  <a:txBody>
                    <a:bodyPr lIns="73152" rIns="73152" tIns="36576" bIns="36576"/>
                    <a:lstStyle/>
                    <a:p>
                      <a:pPr algn="l"/>
                      <a:r>
                        <a:rPr sz="1300" b="1">
                          <a:solidFill>
                            <a:srgbClr val="141A2B"/>
                          </a:solidFill>
                          <a:latin typeface="Calibri"/>
                        </a:rPr>
                        <a:t>Verdict</a:t>
                      </a:r>
                    </a:p>
                  </a:txBody>
                  <a:tcPr>
                    <a:solidFill>
                      <a:srgbClr val="E8B549"/>
                    </a:solidFill>
                  </a:tcPr>
                </a:tc>
              </a:tr>
              <a:tr h="420624">
                <a:tc>
                  <a:txBody>
                    <a:bodyPr lIns="73152" rIns="73152" tIns="36576" bIns="36576"/>
                    <a:lstStyle/>
                    <a:p>
                      <a:pPr algn="l"/>
                      <a:r>
                        <a:rPr sz="1200" b="0">
                          <a:solidFill>
                            <a:srgbClr val="F5F1E8"/>
                          </a:solidFill>
                          <a:latin typeface="Calibri"/>
                        </a:rPr>
                        <a:t>Beeston</a:t>
                      </a:r>
                    </a:p>
                  </a:txBody>
                  <a:tcPr>
                    <a:solidFill>
                      <a:srgbClr val="141A2B"/>
                    </a:solidFill>
                  </a:tcPr>
                </a:tc>
                <a:tc>
                  <a:txBody>
                    <a:bodyPr lIns="73152" rIns="73152" tIns="36576" bIns="36576"/>
                    <a:lstStyle/>
                    <a:p>
                      <a:pPr algn="l"/>
                      <a:r>
                        <a:rPr sz="1200" b="0">
                          <a:solidFill>
                            <a:srgbClr val="F5F1E8"/>
                          </a:solidFill>
                          <a:latin typeface="Calibri"/>
                        </a:rPr>
                        <a:t>693</a:t>
                      </a:r>
                    </a:p>
                  </a:txBody>
                  <a:tcPr>
                    <a:solidFill>
                      <a:srgbClr val="141A2B"/>
                    </a:solidFill>
                  </a:tcPr>
                </a:tc>
                <a:tc>
                  <a:txBody>
                    <a:bodyPr lIns="73152" rIns="73152" tIns="36576" bIns="36576"/>
                    <a:lstStyle/>
                    <a:p>
                      <a:pPr algn="l"/>
                      <a:r>
                        <a:rPr sz="1200" b="0">
                          <a:solidFill>
                            <a:srgbClr val="F5F1E8"/>
                          </a:solidFill>
                          <a:latin typeface="Calibri"/>
                        </a:rPr>
                        <a:t>sea</a:t>
                      </a:r>
                    </a:p>
                  </a:txBody>
                  <a:tcPr>
                    <a:solidFill>
                      <a:srgbClr val="141A2B"/>
                    </a:solidFill>
                  </a:tcPr>
                </a:tc>
                <a:tc>
                  <a:txBody>
                    <a:bodyPr lIns="73152" rIns="73152" tIns="36576" bIns="36576"/>
                    <a:lstStyle/>
                    <a:p>
                      <a:pPr algn="l"/>
                      <a:r>
                        <a:rPr sz="1200" b="0">
                          <a:solidFill>
                            <a:srgbClr val="F5F1E8"/>
                          </a:solidFill>
                          <a:latin typeface="Calibri"/>
                        </a:rPr>
                        <a:t>-11.7</a:t>
                      </a:r>
                    </a:p>
                  </a:txBody>
                  <a:tcPr>
                    <a:solidFill>
                      <a:srgbClr val="141A2B"/>
                    </a:solidFill>
                  </a:tcPr>
                </a:tc>
                <a:tc>
                  <a:txBody>
                    <a:bodyPr lIns="73152" rIns="73152" tIns="36576" bIns="36576"/>
                    <a:lstStyle/>
                    <a:p>
                      <a:pPr algn="l"/>
                      <a:r>
                        <a:rPr sz="1200" b="0">
                          <a:solidFill>
                            <a:srgbClr val="F5F1E8"/>
                          </a:solidFill>
                          <a:latin typeface="Calibri"/>
                        </a:rPr>
                        <a:t>0.020</a:t>
                      </a:r>
                    </a:p>
                  </a:txBody>
                  <a:tcPr>
                    <a:solidFill>
                      <a:srgbClr val="141A2B"/>
                    </a:solidFill>
                  </a:tcPr>
                </a:tc>
                <a:tc>
                  <a:txBody>
                    <a:bodyPr lIns="73152" rIns="73152" tIns="36576" bIns="36576"/>
                    <a:lstStyle/>
                    <a:p>
                      <a:pPr algn="l"/>
                      <a:r>
                        <a:rPr sz="1200" b="0">
                          <a:solidFill>
                            <a:srgbClr val="F5F1E8"/>
                          </a:solidFill>
                          <a:latin typeface="Calibri"/>
                        </a:rPr>
                        <a:t>FAIL</a:t>
                      </a:r>
                    </a:p>
                  </a:txBody>
                  <a:tcPr>
                    <a:solidFill>
                      <a:srgbClr val="141A2B"/>
                    </a:solidFill>
                  </a:tcPr>
                </a:tc>
              </a:tr>
              <a:tr h="420624">
                <a:tc>
                  <a:txBody>
                    <a:bodyPr lIns="73152" rIns="73152" tIns="36576" bIns="36576"/>
                    <a:lstStyle/>
                    <a:p>
                      <a:pPr algn="l"/>
                      <a:r>
                        <a:rPr sz="1200" b="0">
                          <a:solidFill>
                            <a:srgbClr val="F5F1E8"/>
                          </a:solidFill>
                          <a:latin typeface="Calibri"/>
                        </a:rPr>
                        <a:t>Derby</a:t>
                      </a:r>
                    </a:p>
                  </a:txBody>
                  <a:tcPr>
                    <a:solidFill>
                      <a:srgbClr val="141A2B"/>
                    </a:solidFill>
                  </a:tcPr>
                </a:tc>
                <a:tc>
                  <a:txBody>
                    <a:bodyPr lIns="73152" rIns="73152" tIns="36576" bIns="36576"/>
                    <a:lstStyle/>
                    <a:p>
                      <a:pPr algn="l"/>
                      <a:r>
                        <a:rPr sz="1200" b="0">
                          <a:solidFill>
                            <a:srgbClr val="F5F1E8"/>
                          </a:solidFill>
                          <a:latin typeface="Calibri"/>
                        </a:rPr>
                        <a:t>710</a:t>
                      </a:r>
                    </a:p>
                  </a:txBody>
                  <a:tcPr>
                    <a:solidFill>
                      <a:srgbClr val="141A2B"/>
                    </a:solidFill>
                  </a:tcPr>
                </a:tc>
                <a:tc>
                  <a:txBody>
                    <a:bodyPr lIns="73152" rIns="73152" tIns="36576" bIns="36576"/>
                    <a:lstStyle/>
                    <a:p>
                      <a:pPr algn="l"/>
                      <a:r>
                        <a:rPr sz="1200" b="0">
                          <a:solidFill>
                            <a:srgbClr val="F5F1E8"/>
                          </a:solidFill>
                          <a:latin typeface="Calibri"/>
                        </a:rPr>
                        <a:t>sea</a:t>
                      </a:r>
                    </a:p>
                  </a:txBody>
                  <a:tcPr>
                    <a:solidFill>
                      <a:srgbClr val="141A2B"/>
                    </a:solidFill>
                  </a:tcPr>
                </a:tc>
                <a:tc>
                  <a:txBody>
                    <a:bodyPr lIns="73152" rIns="73152" tIns="36576" bIns="36576"/>
                    <a:lstStyle/>
                    <a:p>
                      <a:pPr algn="l"/>
                      <a:r>
                        <a:rPr sz="1200" b="0">
                          <a:solidFill>
                            <a:srgbClr val="F5F1E8"/>
                          </a:solidFill>
                          <a:latin typeface="Calibri"/>
                        </a:rPr>
                        <a:t>-15.7</a:t>
                      </a:r>
                    </a:p>
                  </a:txBody>
                  <a:tcPr>
                    <a:solidFill>
                      <a:srgbClr val="141A2B"/>
                    </a:solidFill>
                  </a:tcPr>
                </a:tc>
                <a:tc>
                  <a:txBody>
                    <a:bodyPr lIns="73152" rIns="73152" tIns="36576" bIns="36576"/>
                    <a:lstStyle/>
                    <a:p>
                      <a:pPr algn="l"/>
                      <a:r>
                        <a:rPr sz="1200" b="0">
                          <a:solidFill>
                            <a:srgbClr val="F5F1E8"/>
                          </a:solidFill>
                          <a:latin typeface="Calibri"/>
                        </a:rPr>
                        <a:t>0.012</a:t>
                      </a:r>
                    </a:p>
                  </a:txBody>
                  <a:tcPr>
                    <a:solidFill>
                      <a:srgbClr val="141A2B"/>
                    </a:solidFill>
                  </a:tcPr>
                </a:tc>
                <a:tc>
                  <a:txBody>
                    <a:bodyPr lIns="73152" rIns="73152" tIns="36576" bIns="36576"/>
                    <a:lstStyle/>
                    <a:p>
                      <a:pPr algn="l"/>
                      <a:r>
                        <a:rPr sz="1200" b="0">
                          <a:solidFill>
                            <a:srgbClr val="F5F1E8"/>
                          </a:solidFill>
                          <a:latin typeface="Calibri"/>
                        </a:rPr>
                        <a:t>FAIL</a:t>
                      </a:r>
                    </a:p>
                  </a:txBody>
                  <a:tcPr>
                    <a:solidFill>
                      <a:srgbClr val="141A2B"/>
                    </a:solidFill>
                  </a:tcPr>
                </a:tc>
              </a:tr>
              <a:tr h="420624">
                <a:tc>
                  <a:txBody>
                    <a:bodyPr lIns="73152" rIns="73152" tIns="36576" bIns="36576"/>
                    <a:lstStyle/>
                    <a:p>
                      <a:pPr algn="l"/>
                      <a:r>
                        <a:rPr sz="1200" b="0">
                          <a:solidFill>
                            <a:srgbClr val="F5F1E8"/>
                          </a:solidFill>
                          <a:latin typeface="Calibri"/>
                        </a:rPr>
                        <a:t>Birmingham</a:t>
                      </a:r>
                    </a:p>
                  </a:txBody>
                  <a:tcPr>
                    <a:solidFill>
                      <a:srgbClr val="141A2B"/>
                    </a:solidFill>
                  </a:tcPr>
                </a:tc>
                <a:tc>
                  <a:txBody>
                    <a:bodyPr lIns="73152" rIns="73152" tIns="36576" bIns="36576"/>
                    <a:lstStyle/>
                    <a:p>
                      <a:pPr algn="l"/>
                      <a:r>
                        <a:rPr sz="1200" b="0">
                          <a:solidFill>
                            <a:srgbClr val="F5F1E8"/>
                          </a:solidFill>
                          <a:latin typeface="Calibri"/>
                        </a:rPr>
                        <a:t>754</a:t>
                      </a:r>
                    </a:p>
                  </a:txBody>
                  <a:tcPr>
                    <a:solidFill>
                      <a:srgbClr val="141A2B"/>
                    </a:solidFill>
                  </a:tcPr>
                </a:tc>
                <a:tc>
                  <a:txBody>
                    <a:bodyPr lIns="73152" rIns="73152" tIns="36576" bIns="36576"/>
                    <a:lstStyle/>
                    <a:p>
                      <a:pPr algn="l"/>
                      <a:r>
                        <a:rPr sz="1200" b="0">
                          <a:solidFill>
                            <a:srgbClr val="F5F1E8"/>
                          </a:solidFill>
                          <a:latin typeface="Calibri"/>
                        </a:rPr>
                        <a:t>sea</a:t>
                      </a:r>
                    </a:p>
                  </a:txBody>
                  <a:tcPr>
                    <a:solidFill>
                      <a:srgbClr val="141A2B"/>
                    </a:solidFill>
                  </a:tcPr>
                </a:tc>
                <a:tc>
                  <a:txBody>
                    <a:bodyPr lIns="73152" rIns="73152" tIns="36576" bIns="36576"/>
                    <a:lstStyle/>
                    <a:p>
                      <a:pPr algn="l"/>
                      <a:r>
                        <a:rPr sz="1200" b="0">
                          <a:solidFill>
                            <a:srgbClr val="F5F1E8"/>
                          </a:solidFill>
                          <a:latin typeface="Calibri"/>
                        </a:rPr>
                        <a:t>-26.3</a:t>
                      </a:r>
                    </a:p>
                  </a:txBody>
                  <a:tcPr>
                    <a:solidFill>
                      <a:srgbClr val="141A2B"/>
                    </a:solidFill>
                  </a:tcPr>
                </a:tc>
                <a:tc>
                  <a:txBody>
                    <a:bodyPr lIns="73152" rIns="73152" tIns="36576" bIns="36576"/>
                    <a:lstStyle/>
                    <a:p>
                      <a:pPr algn="l"/>
                      <a:r>
                        <a:rPr sz="1200" b="0">
                          <a:solidFill>
                            <a:srgbClr val="F5F1E8"/>
                          </a:solidFill>
                          <a:latin typeface="Calibri"/>
                        </a:rPr>
                        <a:t>3.65e-03</a:t>
                      </a:r>
                    </a:p>
                  </a:txBody>
                  <a:tcPr>
                    <a:solidFill>
                      <a:srgbClr val="141A2B"/>
                    </a:solidFill>
                  </a:tcPr>
                </a:tc>
                <a:tc>
                  <a:txBody>
                    <a:bodyPr lIns="73152" rIns="73152" tIns="36576" bIns="36576"/>
                    <a:lstStyle/>
                    <a:p>
                      <a:pPr algn="l"/>
                      <a:r>
                        <a:rPr sz="1200" b="0">
                          <a:solidFill>
                            <a:srgbClr val="F5F1E8"/>
                          </a:solidFill>
                          <a:latin typeface="Calibri"/>
                        </a:rPr>
                        <a:t>FAIL</a:t>
                      </a:r>
                    </a:p>
                  </a:txBody>
                  <a:tcPr>
                    <a:solidFill>
                      <a:srgbClr val="141A2B"/>
                    </a:solidFill>
                  </a:tcPr>
                </a:tc>
              </a:tr>
              <a:tr h="420624">
                <a:tc>
                  <a:txBody>
                    <a:bodyPr lIns="73152" rIns="73152" tIns="36576" bIns="36576"/>
                    <a:lstStyle/>
                    <a:p>
                      <a:pPr algn="l"/>
                      <a:r>
                        <a:rPr sz="1200" b="0">
                          <a:solidFill>
                            <a:srgbClr val="F5F1E8"/>
                          </a:solidFill>
                          <a:latin typeface="Calibri"/>
                        </a:rPr>
                        <a:t>Liverpool</a:t>
                      </a:r>
                    </a:p>
                  </a:txBody>
                  <a:tcPr>
                    <a:solidFill>
                      <a:srgbClr val="141A2B"/>
                    </a:solidFill>
                  </a:tcPr>
                </a:tc>
                <a:tc>
                  <a:txBody>
                    <a:bodyPr lIns="73152" rIns="73152" tIns="36576" bIns="36576"/>
                    <a:lstStyle/>
                    <a:p>
                      <a:pPr algn="l"/>
                      <a:r>
                        <a:rPr sz="1200" b="0">
                          <a:solidFill>
                            <a:srgbClr val="F5F1E8"/>
                          </a:solidFill>
                          <a:latin typeface="Calibri"/>
                        </a:rPr>
                        <a:t>791</a:t>
                      </a:r>
                    </a:p>
                  </a:txBody>
                  <a:tcPr>
                    <a:solidFill>
                      <a:srgbClr val="141A2B"/>
                    </a:solidFill>
                  </a:tcPr>
                </a:tc>
                <a:tc>
                  <a:txBody>
                    <a:bodyPr lIns="73152" rIns="73152" tIns="36576" bIns="36576"/>
                    <a:lstStyle/>
                    <a:p>
                      <a:pPr algn="l"/>
                      <a:r>
                        <a:rPr sz="1200" b="0">
                          <a:solidFill>
                            <a:srgbClr val="F5F1E8"/>
                          </a:solidFill>
                          <a:latin typeface="Calibri"/>
                        </a:rPr>
                        <a:t>sea</a:t>
                      </a:r>
                    </a:p>
                  </a:txBody>
                  <a:tcPr>
                    <a:solidFill>
                      <a:srgbClr val="141A2B"/>
                    </a:solidFill>
                  </a:tcPr>
                </a:tc>
                <a:tc>
                  <a:txBody>
                    <a:bodyPr lIns="73152" rIns="73152" tIns="36576" bIns="36576"/>
                    <a:lstStyle/>
                    <a:p>
                      <a:pPr algn="l"/>
                      <a:r>
                        <a:rPr sz="1200" b="0">
                          <a:solidFill>
                            <a:srgbClr val="F5F1E8"/>
                          </a:solidFill>
                          <a:latin typeface="Calibri"/>
                        </a:rPr>
                        <a:t>-35.2</a:t>
                      </a:r>
                    </a:p>
                  </a:txBody>
                  <a:tcPr>
                    <a:solidFill>
                      <a:srgbClr val="141A2B"/>
                    </a:solidFill>
                  </a:tcPr>
                </a:tc>
                <a:tc>
                  <a:txBody>
                    <a:bodyPr lIns="73152" rIns="73152" tIns="36576" bIns="36576"/>
                    <a:lstStyle/>
                    <a:p>
                      <a:pPr algn="l"/>
                      <a:r>
                        <a:rPr sz="1200" b="0">
                          <a:solidFill>
                            <a:srgbClr val="F5F1E8"/>
                          </a:solidFill>
                          <a:latin typeface="Calibri"/>
                        </a:rPr>
                        <a:t>1.30e-03</a:t>
                      </a:r>
                    </a:p>
                  </a:txBody>
                  <a:tcPr>
                    <a:solidFill>
                      <a:srgbClr val="141A2B"/>
                    </a:solidFill>
                  </a:tcPr>
                </a:tc>
                <a:tc>
                  <a:txBody>
                    <a:bodyPr lIns="73152" rIns="73152" tIns="36576" bIns="36576"/>
                    <a:lstStyle/>
                    <a:p>
                      <a:pPr algn="l"/>
                      <a:r>
                        <a:rPr sz="1200" b="0">
                          <a:solidFill>
                            <a:srgbClr val="F5F1E8"/>
                          </a:solidFill>
                          <a:latin typeface="Calibri"/>
                        </a:rPr>
                        <a:t>FAIL</a:t>
                      </a:r>
                    </a:p>
                  </a:txBody>
                  <a:tcPr>
                    <a:solidFill>
                      <a:srgbClr val="141A2B"/>
                    </a:solidFill>
                  </a:tcPr>
                </a:tc>
              </a:tr>
              <a:tr h="420624">
                <a:tc>
                  <a:txBody>
                    <a:bodyPr lIns="73152" rIns="73152" tIns="36576" bIns="36576"/>
                    <a:lstStyle/>
                    <a:p>
                      <a:pPr algn="l"/>
                      <a:r>
                        <a:rPr sz="1200" b="0">
                          <a:solidFill>
                            <a:srgbClr val="F5F1E8"/>
                          </a:solidFill>
                          <a:latin typeface="Calibri"/>
                        </a:rPr>
                        <a:t>TF 400 km</a:t>
                      </a:r>
                    </a:p>
                  </a:txBody>
                  <a:tcPr>
                    <a:solidFill>
                      <a:srgbClr val="141A2B"/>
                    </a:solidFill>
                  </a:tcPr>
                </a:tc>
                <a:tc>
                  <a:txBody>
                    <a:bodyPr lIns="73152" rIns="73152" tIns="36576" bIns="36576"/>
                    <a:lstStyle/>
                    <a:p>
                      <a:pPr algn="l"/>
                      <a:r>
                        <a:rPr sz="1200" b="0">
                          <a:solidFill>
                            <a:srgbClr val="F5F1E8"/>
                          </a:solidFill>
                          <a:latin typeface="Calibri"/>
                        </a:rPr>
                        <a:t>414</a:t>
                      </a:r>
                    </a:p>
                  </a:txBody>
                  <a:tcPr>
                    <a:solidFill>
                      <a:srgbClr val="141A2B"/>
                    </a:solidFill>
                  </a:tcPr>
                </a:tc>
                <a:tc>
                  <a:txBody>
                    <a:bodyPr lIns="73152" rIns="73152" tIns="36576" bIns="36576"/>
                    <a:lstStyle/>
                    <a:p>
                      <a:pPr algn="l"/>
                      <a:r>
                        <a:rPr sz="1200" b="0">
                          <a:solidFill>
                            <a:srgbClr val="F5F1E8"/>
                          </a:solidFill>
                          <a:latin typeface="Calibri"/>
                        </a:rPr>
                        <a:t>sea</a:t>
                      </a:r>
                    </a:p>
                  </a:txBody>
                  <a:tcPr>
                    <a:solidFill>
                      <a:srgbClr val="141A2B"/>
                    </a:solidFill>
                  </a:tcPr>
                </a:tc>
                <a:tc>
                  <a:txBody>
                    <a:bodyPr lIns="73152" rIns="73152" tIns="36576" bIns="36576"/>
                    <a:lstStyle/>
                    <a:p>
                      <a:pPr algn="l"/>
                      <a:r>
                        <a:rPr sz="1200" b="0">
                          <a:solidFill>
                            <a:srgbClr val="F5F1E8"/>
                          </a:solidFill>
                          <a:latin typeface="Calibri"/>
                        </a:rPr>
                        <a:t>+43.3</a:t>
                      </a:r>
                    </a:p>
                  </a:txBody>
                  <a:tcPr>
                    <a:solidFill>
                      <a:srgbClr val="141A2B"/>
                    </a:solidFill>
                  </a:tcPr>
                </a:tc>
                <a:tc>
                  <a:txBody>
                    <a:bodyPr lIns="73152" rIns="73152" tIns="36576" bIns="36576"/>
                    <a:lstStyle/>
                    <a:p>
                      <a:pPr algn="l"/>
                      <a:r>
                        <a:rPr sz="1200" b="0">
                          <a:solidFill>
                            <a:srgbClr val="F5F1E8"/>
                          </a:solidFill>
                          <a:latin typeface="Calibri"/>
                        </a:rPr>
                        <a:t>11.094</a:t>
                      </a:r>
                    </a:p>
                  </a:txBody>
                  <a:tcPr>
                    <a:solidFill>
                      <a:srgbClr val="141A2B"/>
                    </a:solidFill>
                  </a:tcPr>
                </a:tc>
                <a:tc>
                  <a:txBody>
                    <a:bodyPr lIns="73152" rIns="73152" tIns="36576" bIns="36576"/>
                    <a:lstStyle/>
                    <a:p>
                      <a:pPr algn="l"/>
                      <a:r>
                        <a:rPr sz="1200" b="0">
                          <a:solidFill>
                            <a:srgbClr val="F5F1E8"/>
                          </a:solidFill>
                          <a:latin typeface="Calibri"/>
                        </a:rPr>
                        <a:t>PASS</a:t>
                      </a:r>
                    </a:p>
                  </a:txBody>
                  <a:tcPr>
                    <a:solidFill>
                      <a:srgbClr val="141A2B"/>
                    </a:solidFill>
                  </a:tcPr>
                </a:tc>
              </a:tr>
              <a:tr h="420624">
                <a:tc>
                  <a:txBody>
                    <a:bodyPr lIns="73152" rIns="73152" tIns="36576" bIns="36576"/>
                    <a:lstStyle/>
                    <a:p>
                      <a:pPr algn="l"/>
                      <a:r>
                        <a:rPr sz="1200" b="0">
                          <a:solidFill>
                            <a:srgbClr val="F5F1E8"/>
                          </a:solidFill>
                          <a:latin typeface="Calibri"/>
                        </a:rPr>
                        <a:t>TF 500 km</a:t>
                      </a:r>
                    </a:p>
                  </a:txBody>
                  <a:tcPr>
                    <a:solidFill>
                      <a:srgbClr val="141A2B"/>
                    </a:solidFill>
                  </a:tcPr>
                </a:tc>
                <a:tc>
                  <a:txBody>
                    <a:bodyPr lIns="73152" rIns="73152" tIns="36576" bIns="36576"/>
                    <a:lstStyle/>
                    <a:p>
                      <a:pPr algn="l"/>
                      <a:r>
                        <a:rPr sz="1200" b="0">
                          <a:solidFill>
                            <a:srgbClr val="F5F1E8"/>
                          </a:solidFill>
                          <a:latin typeface="Calibri"/>
                        </a:rPr>
                        <a:t>505</a:t>
                      </a:r>
                    </a:p>
                  </a:txBody>
                  <a:tcPr>
                    <a:solidFill>
                      <a:srgbClr val="141A2B"/>
                    </a:solidFill>
                  </a:tcPr>
                </a:tc>
                <a:tc>
                  <a:txBody>
                    <a:bodyPr lIns="73152" rIns="73152" tIns="36576" bIns="36576"/>
                    <a:lstStyle/>
                    <a:p>
                      <a:pPr algn="l"/>
                      <a:r>
                        <a:rPr sz="1200" b="0">
                          <a:solidFill>
                            <a:srgbClr val="F5F1E8"/>
                          </a:solidFill>
                          <a:latin typeface="Calibri"/>
                        </a:rPr>
                        <a:t>sea</a:t>
                      </a:r>
                    </a:p>
                  </a:txBody>
                  <a:tcPr>
                    <a:solidFill>
                      <a:srgbClr val="141A2B"/>
                    </a:solidFill>
                  </a:tcPr>
                </a:tc>
                <a:tc>
                  <a:txBody>
                    <a:bodyPr lIns="73152" rIns="73152" tIns="36576" bIns="36576"/>
                    <a:lstStyle/>
                    <a:p>
                      <a:pPr algn="l"/>
                      <a:r>
                        <a:rPr sz="1200" b="0">
                          <a:solidFill>
                            <a:srgbClr val="F5F1E8"/>
                          </a:solidFill>
                          <a:latin typeface="Calibri"/>
                        </a:rPr>
                        <a:t>+20.9</a:t>
                      </a:r>
                    </a:p>
                  </a:txBody>
                  <a:tcPr>
                    <a:solidFill>
                      <a:srgbClr val="141A2B"/>
                    </a:solidFill>
                  </a:tcPr>
                </a:tc>
                <a:tc>
                  <a:txBody>
                    <a:bodyPr lIns="73152" rIns="73152" tIns="36576" bIns="36576"/>
                    <a:lstStyle/>
                    <a:p>
                      <a:pPr algn="l"/>
                      <a:r>
                        <a:rPr sz="1200" b="0">
                          <a:solidFill>
                            <a:srgbClr val="F5F1E8"/>
                          </a:solidFill>
                          <a:latin typeface="Calibri"/>
                        </a:rPr>
                        <a:t>0.840</a:t>
                      </a:r>
                    </a:p>
                  </a:txBody>
                  <a:tcPr>
                    <a:solidFill>
                      <a:srgbClr val="141A2B"/>
                    </a:solidFill>
                  </a:tcPr>
                </a:tc>
                <a:tc>
                  <a:txBody>
                    <a:bodyPr lIns="73152" rIns="73152" tIns="36576" bIns="36576"/>
                    <a:lstStyle/>
                    <a:p>
                      <a:pPr algn="l"/>
                      <a:r>
                        <a:rPr sz="1200" b="0">
                          <a:solidFill>
                            <a:srgbClr val="F5F1E8"/>
                          </a:solidFill>
                          <a:latin typeface="Calibri"/>
                        </a:rPr>
                        <a:t>PASS</a:t>
                      </a:r>
                    </a:p>
                  </a:txBody>
                  <a:tcPr>
                    <a:solidFill>
                      <a:srgbClr val="141A2B"/>
                    </a:solidFill>
                  </a:tcPr>
                </a:tc>
              </a:tr>
              <a:tr h="420624">
                <a:tc>
                  <a:txBody>
                    <a:bodyPr lIns="73152" rIns="73152" tIns="36576" bIns="36576"/>
                    <a:lstStyle/>
                    <a:p>
                      <a:pPr algn="l"/>
                      <a:r>
                        <a:rPr sz="1200" b="0">
                          <a:solidFill>
                            <a:srgbClr val="F5F1E8"/>
                          </a:solidFill>
                          <a:latin typeface="Calibri"/>
                        </a:rPr>
                        <a:t>TF 700 km</a:t>
                      </a:r>
                    </a:p>
                  </a:txBody>
                  <a:tcPr>
                    <a:solidFill>
                      <a:srgbClr val="141A2B"/>
                    </a:solidFill>
                  </a:tcPr>
                </a:tc>
                <a:tc>
                  <a:txBody>
                    <a:bodyPr lIns="73152" rIns="73152" tIns="36576" bIns="36576"/>
                    <a:lstStyle/>
                    <a:p>
                      <a:pPr algn="l"/>
                      <a:r>
                        <a:rPr sz="1200" b="0">
                          <a:solidFill>
                            <a:srgbClr val="F5F1E8"/>
                          </a:solidFill>
                          <a:latin typeface="Calibri"/>
                        </a:rPr>
                        <a:t>703</a:t>
                      </a:r>
                    </a:p>
                  </a:txBody>
                  <a:tcPr>
                    <a:solidFill>
                      <a:srgbClr val="141A2B"/>
                    </a:solidFill>
                  </a:tcPr>
                </a:tc>
                <a:tc>
                  <a:txBody>
                    <a:bodyPr lIns="73152" rIns="73152" tIns="36576" bIns="36576"/>
                    <a:lstStyle/>
                    <a:p>
                      <a:pPr algn="l"/>
                      <a:r>
                        <a:rPr sz="1200" b="0">
                          <a:solidFill>
                            <a:srgbClr val="F5F1E8"/>
                          </a:solidFill>
                          <a:latin typeface="Calibri"/>
                        </a:rPr>
                        <a:t>sea</a:t>
                      </a:r>
                    </a:p>
                  </a:txBody>
                  <a:tcPr>
                    <a:solidFill>
                      <a:srgbClr val="141A2B"/>
                    </a:solidFill>
                  </a:tcPr>
                </a:tc>
                <a:tc>
                  <a:txBody>
                    <a:bodyPr lIns="73152" rIns="73152" tIns="36576" bIns="36576"/>
                    <a:lstStyle/>
                    <a:p>
                      <a:pPr algn="l"/>
                      <a:r>
                        <a:rPr sz="1200" b="0">
                          <a:solidFill>
                            <a:srgbClr val="F5F1E8"/>
                          </a:solidFill>
                          <a:latin typeface="Calibri"/>
                        </a:rPr>
                        <a:t>-27.3</a:t>
                      </a:r>
                    </a:p>
                  </a:txBody>
                  <a:tcPr>
                    <a:solidFill>
                      <a:srgbClr val="141A2B"/>
                    </a:solidFill>
                  </a:tcPr>
                </a:tc>
                <a:tc>
                  <a:txBody>
                    <a:bodyPr lIns="73152" rIns="73152" tIns="36576" bIns="36576"/>
                    <a:lstStyle/>
                    <a:p>
                      <a:pPr algn="l"/>
                      <a:r>
                        <a:rPr sz="1200" b="0">
                          <a:solidFill>
                            <a:srgbClr val="F5F1E8"/>
                          </a:solidFill>
                          <a:latin typeface="Calibri"/>
                        </a:rPr>
                        <a:t>3.24e-03</a:t>
                      </a:r>
                    </a:p>
                  </a:txBody>
                  <a:tcPr>
                    <a:solidFill>
                      <a:srgbClr val="141A2B"/>
                    </a:solidFill>
                  </a:tcPr>
                </a:tc>
                <a:tc>
                  <a:txBody>
                    <a:bodyPr lIns="73152" rIns="73152" tIns="36576" bIns="36576"/>
                    <a:lstStyle/>
                    <a:p>
                      <a:pPr algn="l"/>
                      <a:r>
                        <a:rPr sz="1200" b="0">
                          <a:solidFill>
                            <a:srgbClr val="F5F1E8"/>
                          </a:solidFill>
                          <a:latin typeface="Calibri"/>
                        </a:rPr>
                        <a:t>FAIL</a:t>
                      </a:r>
                    </a:p>
                  </a:txBody>
                  <a:tcPr>
                    <a:solidFill>
                      <a:srgbClr val="141A2B"/>
                    </a:solidFill>
                  </a:tcPr>
                </a:tc>
              </a:tr>
              <a:tr h="420624">
                <a:tc>
                  <a:txBody>
                    <a:bodyPr lIns="73152" rIns="73152" tIns="36576" bIns="36576"/>
                    <a:lstStyle/>
                    <a:p>
                      <a:pPr algn="l"/>
                      <a:r>
                        <a:rPr sz="1200" b="0">
                          <a:solidFill>
                            <a:srgbClr val="F5F1E8"/>
                          </a:solidFill>
                          <a:latin typeface="Calibri"/>
                        </a:rPr>
                        <a:t>TF 800 km</a:t>
                      </a:r>
                    </a:p>
                  </a:txBody>
                  <a:tcPr>
                    <a:solidFill>
                      <a:srgbClr val="141A2B"/>
                    </a:solidFill>
                  </a:tcPr>
                </a:tc>
                <a:tc>
                  <a:txBody>
                    <a:bodyPr lIns="73152" rIns="73152" tIns="36576" bIns="36576"/>
                    <a:lstStyle/>
                    <a:p>
                      <a:pPr algn="l"/>
                      <a:r>
                        <a:rPr sz="1200" b="0">
                          <a:solidFill>
                            <a:srgbClr val="F5F1E8"/>
                          </a:solidFill>
                          <a:latin typeface="Calibri"/>
                        </a:rPr>
                        <a:t>805</a:t>
                      </a:r>
                    </a:p>
                  </a:txBody>
                  <a:tcPr>
                    <a:solidFill>
                      <a:srgbClr val="141A2B"/>
                    </a:solidFill>
                  </a:tcPr>
                </a:tc>
                <a:tc>
                  <a:txBody>
                    <a:bodyPr lIns="73152" rIns="73152" tIns="36576" bIns="36576"/>
                    <a:lstStyle/>
                    <a:p>
                      <a:pPr algn="l"/>
                      <a:r>
                        <a:rPr sz="1200" b="0">
                          <a:solidFill>
                            <a:srgbClr val="F5F1E8"/>
                          </a:solidFill>
                          <a:latin typeface="Calibri"/>
                        </a:rPr>
                        <a:t>sea</a:t>
                      </a:r>
                    </a:p>
                  </a:txBody>
                  <a:tcPr>
                    <a:solidFill>
                      <a:srgbClr val="141A2B"/>
                    </a:solidFill>
                  </a:tcPr>
                </a:tc>
                <a:tc>
                  <a:txBody>
                    <a:bodyPr lIns="73152" rIns="73152" tIns="36576" bIns="36576"/>
                    <a:lstStyle/>
                    <a:p>
                      <a:pPr algn="l"/>
                      <a:r>
                        <a:rPr sz="1200" b="0">
                          <a:solidFill>
                            <a:srgbClr val="F5F1E8"/>
                          </a:solidFill>
                          <a:latin typeface="Calibri"/>
                        </a:rPr>
                        <a:t>-52.3</a:t>
                      </a:r>
                    </a:p>
                  </a:txBody>
                  <a:tcPr>
                    <a:solidFill>
                      <a:srgbClr val="141A2B"/>
                    </a:solidFill>
                  </a:tcPr>
                </a:tc>
                <a:tc>
                  <a:txBody>
                    <a:bodyPr lIns="73152" rIns="73152" tIns="36576" bIns="36576"/>
                    <a:lstStyle/>
                    <a:p>
                      <a:pPr algn="l"/>
                      <a:r>
                        <a:rPr sz="1200" b="0">
                          <a:solidFill>
                            <a:srgbClr val="F5F1E8"/>
                          </a:solidFill>
                          <a:latin typeface="Calibri"/>
                        </a:rPr>
                        <a:t>1.84e-04</a:t>
                      </a:r>
                    </a:p>
                  </a:txBody>
                  <a:tcPr>
                    <a:solidFill>
                      <a:srgbClr val="141A2B"/>
                    </a:solidFill>
                  </a:tcPr>
                </a:tc>
                <a:tc>
                  <a:txBody>
                    <a:bodyPr lIns="73152" rIns="73152" tIns="36576" bIns="36576"/>
                    <a:lstStyle/>
                    <a:p>
                      <a:pPr algn="l"/>
                      <a:r>
                        <a:rPr sz="1200" b="0">
                          <a:solidFill>
                            <a:srgbClr val="F5F1E8"/>
                          </a:solidFill>
                          <a:latin typeface="Calibri"/>
                        </a:rPr>
                        <a:t>FAIL</a:t>
                      </a:r>
                    </a:p>
                  </a:txBody>
                  <a:tcPr>
                    <a:solidFill>
                      <a:srgbClr val="141A2B"/>
                    </a:solidFill>
                  </a:tcPr>
                </a:tc>
              </a:tr>
              <a:tr h="420624">
                <a:tc>
                  <a:txBody>
                    <a:bodyPr lIns="73152" rIns="73152" tIns="36576" bIns="36576"/>
                    <a:lstStyle/>
                    <a:p>
                      <a:pPr algn="l"/>
                      <a:r>
                        <a:rPr sz="1200" b="0">
                          <a:solidFill>
                            <a:srgbClr val="F5F1E8"/>
                          </a:solidFill>
                          <a:latin typeface="Calibri"/>
                        </a:rPr>
                        <a:t>TF 1000 km</a:t>
                      </a:r>
                    </a:p>
                  </a:txBody>
                  <a:tcPr>
                    <a:solidFill>
                      <a:srgbClr val="141A2B"/>
                    </a:solidFill>
                  </a:tcPr>
                </a:tc>
                <a:tc>
                  <a:txBody>
                    <a:bodyPr lIns="73152" rIns="73152" tIns="36576" bIns="36576"/>
                    <a:lstStyle/>
                    <a:p>
                      <a:pPr algn="l"/>
                      <a:r>
                        <a:rPr sz="1200" b="0">
                          <a:solidFill>
                            <a:srgbClr val="F5F1E8"/>
                          </a:solidFill>
                          <a:latin typeface="Calibri"/>
                        </a:rPr>
                        <a:t>1000</a:t>
                      </a:r>
                    </a:p>
                  </a:txBody>
                  <a:tcPr>
                    <a:solidFill>
                      <a:srgbClr val="141A2B"/>
                    </a:solidFill>
                  </a:tcPr>
                </a:tc>
                <a:tc>
                  <a:txBody>
                    <a:bodyPr lIns="73152" rIns="73152" tIns="36576" bIns="36576"/>
                    <a:lstStyle/>
                    <a:p>
                      <a:pPr algn="l"/>
                      <a:r>
                        <a:rPr sz="1200" b="0">
                          <a:solidFill>
                            <a:srgbClr val="F5F1E8"/>
                          </a:solidFill>
                          <a:latin typeface="Calibri"/>
                        </a:rPr>
                        <a:t>sea</a:t>
                      </a:r>
                    </a:p>
                  </a:txBody>
                  <a:tcPr>
                    <a:solidFill>
                      <a:srgbClr val="141A2B"/>
                    </a:solidFill>
                  </a:tcPr>
                </a:tc>
                <a:tc>
                  <a:txBody>
                    <a:bodyPr lIns="73152" rIns="73152" tIns="36576" bIns="36576"/>
                    <a:lstStyle/>
                    <a:p>
                      <a:pPr algn="l"/>
                      <a:r>
                        <a:rPr sz="1200" b="0">
                          <a:solidFill>
                            <a:srgbClr val="F5F1E8"/>
                          </a:solidFill>
                          <a:latin typeface="Calibri"/>
                        </a:rPr>
                        <a:t>-99.3</a:t>
                      </a:r>
                    </a:p>
                  </a:txBody>
                  <a:tcPr>
                    <a:solidFill>
                      <a:srgbClr val="141A2B"/>
                    </a:solidFill>
                  </a:tcPr>
                </a:tc>
                <a:tc>
                  <a:txBody>
                    <a:bodyPr lIns="73152" rIns="73152" tIns="36576" bIns="36576"/>
                    <a:lstStyle/>
                    <a:p>
                      <a:pPr algn="l"/>
                      <a:r>
                        <a:rPr sz="1200" b="0">
                          <a:solidFill>
                            <a:srgbClr val="F5F1E8"/>
                          </a:solidFill>
                          <a:latin typeface="Calibri"/>
                        </a:rPr>
                        <a:t>8.19e-07</a:t>
                      </a:r>
                    </a:p>
                  </a:txBody>
                  <a:tcPr>
                    <a:solidFill>
                      <a:srgbClr val="141A2B"/>
                    </a:solidFill>
                  </a:tcPr>
                </a:tc>
                <a:tc>
                  <a:txBody>
                    <a:bodyPr lIns="73152" rIns="73152" tIns="36576" bIns="36576"/>
                    <a:lstStyle/>
                    <a:p>
                      <a:pPr algn="l"/>
                      <a:r>
                        <a:rPr sz="1200" b="0">
                          <a:solidFill>
                            <a:srgbClr val="F5F1E8"/>
                          </a:solidFill>
                          <a:latin typeface="Calibri"/>
                        </a:rPr>
                        <a:t>FAIL</a:t>
                      </a:r>
                    </a:p>
                  </a:txBody>
                  <a:tcPr>
                    <a:solidFill>
                      <a:srgbClr val="141A2B"/>
                    </a:solidFill>
                  </a:tcPr>
                </a:tc>
              </a:tr>
            </a:tbl>
          </a:graphicData>
        </a:graphic>
      </p:graphicFrame>
      <p:sp>
        <p:nvSpPr>
          <p:cNvPr id="8" name="TextBox 7"/>
          <p:cNvSpPr txBox="1"/>
          <p:nvPr/>
        </p:nvSpPr>
        <p:spPr>
          <a:xfrm>
            <a:off x="640080" y="5852160"/>
            <a:ext cx="10972800" cy="5486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300" b="0">
                <a:solidFill>
                  <a:srgbClr val="C83F3F"/>
                </a:solidFill>
                <a:latin typeface="Calibri"/>
              </a:rPr>
              <a:t>Cross beam over sea: every confirmed Midlands target sits below the noise floor on the globe.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141A2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3" name="Picture 2" descr="aether_cosmology_logo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74320" y="274320"/>
            <a:ext cx="822960" cy="822960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1371600" y="320040"/>
            <a:ext cx="10058400" cy="5943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2800" b="1">
                <a:solidFill>
                  <a:srgbClr val="F5F1E8"/>
                </a:solidFill>
                <a:latin typeface="Calibri"/>
              </a:rPr>
              <a:t>Squint Sandbox calibration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371600" y="777240"/>
            <a:ext cx="1005840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400" b="0">
                <a:solidFill>
                  <a:srgbClr val="E8B549"/>
                </a:solidFill>
                <a:latin typeface="Calibri"/>
              </a:rPr>
              <a:t>Values that reproduce the British-measured equisignal corridor</a:t>
            </a:r>
          </a:p>
        </p:txBody>
      </p:sp>
      <p:sp>
        <p:nvSpPr>
          <p:cNvPr id="6" name="Rectangle 5"/>
          <p:cNvSpPr/>
          <p:nvPr/>
        </p:nvSpPr>
        <p:spPr>
          <a:xfrm>
            <a:off x="457200" y="1188720"/>
            <a:ext cx="11277295" cy="40000"/>
          </a:xfrm>
          <a:prstGeom prst="rect">
            <a:avLst/>
          </a:prstGeom>
          <a:solidFill>
            <a:srgbClr val="E8B54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640080" y="1463040"/>
            <a:ext cx="1097280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600" b="1">
                <a:solidFill>
                  <a:srgbClr val="E8B549"/>
                </a:solidFill>
                <a:latin typeface="Calibri"/>
              </a:rPr>
              <a:t>Default Squint Sandbox inputs (sheet rows 4, 9, 18)</a:t>
            </a:r>
          </a:p>
        </p:txBody>
      </p:sp>
      <p:graphicFrame>
        <p:nvGraphicFramePr>
          <p:cNvPr id="8" name="Table 7"/>
          <p:cNvGraphicFramePr>
            <a:graphicFrameLocks noGrp="1"/>
          </p:cNvGraphicFramePr>
          <p:nvPr/>
        </p:nvGraphicFramePr>
        <p:xfrm>
          <a:off x="640080" y="1874519"/>
          <a:ext cx="10881360" cy="155448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3627120"/>
                <a:gridCol w="3627120"/>
                <a:gridCol w="3627120"/>
              </a:tblGrid>
              <a:tr h="388620">
                <a:tc>
                  <a:txBody>
                    <a:bodyPr lIns="73152" rIns="73152" tIns="36576" bIns="36576"/>
                    <a:lstStyle/>
                    <a:p>
                      <a:pPr algn="l"/>
                      <a:r>
                        <a:rPr sz="1300" b="1">
                          <a:solidFill>
                            <a:srgbClr val="141A2B"/>
                          </a:solidFill>
                          <a:latin typeface="Calibri"/>
                        </a:rPr>
                        <a:t>Input</a:t>
                      </a:r>
                    </a:p>
                  </a:txBody>
                  <a:tcPr>
                    <a:solidFill>
                      <a:srgbClr val="E8B549"/>
                    </a:solidFill>
                  </a:tcPr>
                </a:tc>
                <a:tc>
                  <a:txBody>
                    <a:bodyPr lIns="73152" rIns="73152" tIns="36576" bIns="36576"/>
                    <a:lstStyle/>
                    <a:p>
                      <a:pPr algn="l"/>
                      <a:r>
                        <a:rPr sz="1300" b="1">
                          <a:solidFill>
                            <a:srgbClr val="141A2B"/>
                          </a:solidFill>
                          <a:latin typeface="Calibri"/>
                        </a:rPr>
                        <a:t>Default</a:t>
                      </a:r>
                    </a:p>
                  </a:txBody>
                  <a:tcPr>
                    <a:solidFill>
                      <a:srgbClr val="E8B549"/>
                    </a:solidFill>
                  </a:tcPr>
                </a:tc>
                <a:tc>
                  <a:txBody>
                    <a:bodyPr lIns="73152" rIns="73152" tIns="36576" bIns="36576"/>
                    <a:lstStyle/>
                    <a:p>
                      <a:pPr algn="l"/>
                      <a:r>
                        <a:rPr sz="1300" b="1">
                          <a:solidFill>
                            <a:srgbClr val="141A2B"/>
                          </a:solidFill>
                          <a:latin typeface="Calibri"/>
                        </a:rPr>
                        <a:t>Source</a:t>
                      </a:r>
                    </a:p>
                  </a:txBody>
                  <a:tcPr>
                    <a:solidFill>
                      <a:srgbClr val="E8B549"/>
                    </a:solidFill>
                  </a:tcPr>
                </a:tc>
              </a:tr>
              <a:tr h="388620">
                <a:tc>
                  <a:txBody>
                    <a:bodyPr lIns="73152" rIns="73152" tIns="36576" bIns="36576"/>
                    <a:lstStyle/>
                    <a:p>
                      <a:pPr algn="l"/>
                      <a:r>
                        <a:rPr sz="1200" b="0">
                          <a:solidFill>
                            <a:srgbClr val="F5F1E8"/>
                          </a:solidFill>
                          <a:latin typeface="Calibri"/>
                        </a:rPr>
                        <a:t>Squint theta</a:t>
                      </a:r>
                    </a:p>
                  </a:txBody>
                  <a:tcPr>
                    <a:solidFill>
                      <a:srgbClr val="141A2B"/>
                    </a:solidFill>
                  </a:tcPr>
                </a:tc>
                <a:tc>
                  <a:txBody>
                    <a:bodyPr lIns="73152" rIns="73152" tIns="36576" bIns="36576"/>
                    <a:lstStyle/>
                    <a:p>
                      <a:pPr algn="l"/>
                      <a:r>
                        <a:rPr sz="1200" b="0">
                          <a:solidFill>
                            <a:srgbClr val="F5F1E8"/>
                          </a:solidFill>
                          <a:latin typeface="Calibri"/>
                        </a:rPr>
                        <a:t>5 deg</a:t>
                      </a:r>
                    </a:p>
                  </a:txBody>
                  <a:tcPr>
                    <a:solidFill>
                      <a:srgbClr val="141A2B"/>
                    </a:solidFill>
                  </a:tcPr>
                </a:tc>
                <a:tc>
                  <a:txBody>
                    <a:bodyPr lIns="73152" rIns="73152" tIns="36576" bIns="36576"/>
                    <a:lstStyle/>
                    <a:p>
                      <a:pPr algn="l"/>
                      <a:r>
                        <a:rPr sz="1200" b="0">
                          <a:solidFill>
                            <a:srgbClr val="F5F1E8"/>
                          </a:solidFill>
                          <a:latin typeface="Calibri"/>
                        </a:rPr>
                        <a:t>Telefunken (Bauer 2004 p. 12)</a:t>
                      </a:r>
                    </a:p>
                  </a:txBody>
                  <a:tcPr>
                    <a:solidFill>
                      <a:srgbClr val="141A2B"/>
                    </a:solidFill>
                  </a:tcPr>
                </a:tc>
              </a:tr>
              <a:tr h="388620">
                <a:tc>
                  <a:txBody>
                    <a:bodyPr lIns="73152" rIns="73152" tIns="36576" bIns="36576"/>
                    <a:lstStyle/>
                    <a:p>
                      <a:pPr algn="l"/>
                      <a:r>
                        <a:rPr sz="1200" b="0">
                          <a:solidFill>
                            <a:srgbClr val="F5F1E8"/>
                          </a:solidFill>
                          <a:latin typeface="Calibri"/>
                        </a:rPr>
                        <a:t>Aperture W</a:t>
                      </a:r>
                    </a:p>
                  </a:txBody>
                  <a:tcPr>
                    <a:solidFill>
                      <a:srgbClr val="141A2B"/>
                    </a:solidFill>
                  </a:tcPr>
                </a:tc>
                <a:tc>
                  <a:txBody>
                    <a:bodyPr lIns="73152" rIns="73152" tIns="36576" bIns="36576"/>
                    <a:lstStyle/>
                    <a:p>
                      <a:pPr algn="l"/>
                      <a:r>
                        <a:rPr sz="1200" b="0">
                          <a:solidFill>
                            <a:srgbClr val="F5F1E8"/>
                          </a:solidFill>
                          <a:latin typeface="Calibri"/>
                        </a:rPr>
                        <a:t>99 m</a:t>
                      </a:r>
                    </a:p>
                  </a:txBody>
                  <a:tcPr>
                    <a:solidFill>
                      <a:srgbClr val="141A2B"/>
                    </a:solidFill>
                  </a:tcPr>
                </a:tc>
                <a:tc>
                  <a:txBody>
                    <a:bodyPr lIns="73152" rIns="73152" tIns="36576" bIns="36576"/>
                    <a:lstStyle/>
                    <a:p>
                      <a:pPr algn="l"/>
                      <a:r>
                        <a:rPr sz="1200" b="0">
                          <a:solidFill>
                            <a:srgbClr val="F5F1E8"/>
                          </a:solidFill>
                          <a:latin typeface="Calibri"/>
                        </a:rPr>
                        <a:t>Trenkle 1979 p. 67</a:t>
                      </a:r>
                    </a:p>
                  </a:txBody>
                  <a:tcPr>
                    <a:solidFill>
                      <a:srgbClr val="141A2B"/>
                    </a:solidFill>
                  </a:tcPr>
                </a:tc>
              </a:tr>
              <a:tr h="388620">
                <a:tc>
                  <a:txBody>
                    <a:bodyPr lIns="73152" rIns="73152" tIns="36576" bIns="36576"/>
                    <a:lstStyle/>
                    <a:p>
                      <a:pPr algn="l"/>
                      <a:r>
                        <a:rPr sz="1200" b="0">
                          <a:solidFill>
                            <a:srgbClr val="F5F1E8"/>
                          </a:solidFill>
                          <a:latin typeface="Calibri"/>
                        </a:rPr>
                        <a:t>Aperture H</a:t>
                      </a:r>
                    </a:p>
                  </a:txBody>
                  <a:tcPr>
                    <a:solidFill>
                      <a:srgbClr val="141A2B"/>
                    </a:solidFill>
                  </a:tcPr>
                </a:tc>
                <a:tc>
                  <a:txBody>
                    <a:bodyPr lIns="73152" rIns="73152" tIns="36576" bIns="36576"/>
                    <a:lstStyle/>
                    <a:p>
                      <a:pPr algn="l"/>
                      <a:r>
                        <a:rPr sz="1200" b="0">
                          <a:solidFill>
                            <a:srgbClr val="F5F1E8"/>
                          </a:solidFill>
                          <a:latin typeface="Calibri"/>
                        </a:rPr>
                        <a:t>20 m</a:t>
                      </a:r>
                    </a:p>
                  </a:txBody>
                  <a:tcPr>
                    <a:solidFill>
                      <a:srgbClr val="141A2B"/>
                    </a:solidFill>
                  </a:tcPr>
                </a:tc>
                <a:tc>
                  <a:txBody>
                    <a:bodyPr lIns="73152" rIns="73152" tIns="36576" bIns="36576"/>
                    <a:lstStyle/>
                    <a:p>
                      <a:pPr algn="l"/>
                      <a:r>
                        <a:rPr sz="1200" b="0">
                          <a:solidFill>
                            <a:srgbClr val="F5F1E8"/>
                          </a:solidFill>
                          <a:latin typeface="Calibri"/>
                        </a:rPr>
                        <a:t>Squint Sandbox sheet B18 / C18</a:t>
                      </a:r>
                    </a:p>
                  </a:txBody>
                  <a:tcPr>
                    <a:solidFill>
                      <a:srgbClr val="141A2B"/>
                    </a:solidFill>
                  </a:tcPr>
                </a:tc>
              </a:tr>
            </a:tbl>
          </a:graphicData>
        </a:graphic>
      </p:graphicFrame>
      <p:sp>
        <p:nvSpPr>
          <p:cNvPr id="9" name="TextBox 8"/>
          <p:cNvSpPr txBox="1"/>
          <p:nvPr/>
        </p:nvSpPr>
        <p:spPr>
          <a:xfrm>
            <a:off x="640080" y="3657600"/>
            <a:ext cx="1097280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600" b="1">
                <a:solidFill>
                  <a:srgbClr val="E8B549"/>
                </a:solidFill>
                <a:latin typeface="Calibri"/>
              </a:rPr>
              <a:t>Calibration check: Kleve to Spalding, 21 Jun 1940 (Bufton flight)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40080" y="4114800"/>
            <a:ext cx="10972800" cy="16459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500" b="0">
                <a:solidFill>
                  <a:srgbClr val="F5F1E8"/>
                </a:solidFill>
                <a:latin typeface="Calibri"/>
              </a:rPr>
              <a:t>d = 440 km, predicted equisignal corridor at target range = 424 m = 464 yards.</a:t>
            </a:r>
          </a:p>
          <a:p>
            <a:pPr algn="l"/>
            <a:r>
              <a:rPr sz="1500" b="0">
                <a:solidFill>
                  <a:srgbClr val="F5F1E8"/>
                </a:solidFill>
                <a:latin typeface="Calibri"/>
              </a:rPr>
              <a:t/>
            </a:r>
          </a:p>
          <a:p>
            <a:pPr algn="l"/>
            <a:r>
              <a:rPr sz="1500" b="0">
                <a:solidFill>
                  <a:srgbClr val="F5F1E8"/>
                </a:solidFill>
                <a:latin typeface="Calibri"/>
              </a:rPr>
              <a:t>British R/T flight measured 400 to 500 yards equisignal width at this target. The 99 m aperture at 5 degree squint predicts within ~10 percent without tuning.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40080" y="5943600"/>
            <a:ext cx="1097280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300" b="0">
                <a:solidFill>
                  <a:srgbClr val="E8B549"/>
                </a:solidFill>
                <a:latin typeface="Calibri"/>
              </a:rPr>
              <a:t>The same defaults flow into notebooks 001 and 002. Edit them to see how the corridor changes.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141A2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3" name="Picture 2" descr="aether_cosmology_logo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74320" y="274320"/>
            <a:ext cx="822960" cy="822960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1371600" y="320040"/>
            <a:ext cx="10058400" cy="5943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2800" b="1">
                <a:solidFill>
                  <a:srgbClr val="F5F1E8"/>
                </a:solidFill>
                <a:latin typeface="Calibri"/>
              </a:rPr>
              <a:t>Verdict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371600" y="777240"/>
            <a:ext cx="1005840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400" b="0">
                <a:solidFill>
                  <a:srgbClr val="E8B549"/>
                </a:solidFill>
                <a:latin typeface="Calibri"/>
              </a:rPr>
              <a:t>Globe (Fock and GRWAVE) vs Flat (Sommerfeld-Norton)</a:t>
            </a:r>
          </a:p>
        </p:txBody>
      </p:sp>
      <p:sp>
        <p:nvSpPr>
          <p:cNvPr id="6" name="Rectangle 5"/>
          <p:cNvSpPr/>
          <p:nvPr/>
        </p:nvSpPr>
        <p:spPr>
          <a:xfrm>
            <a:off x="457200" y="1188720"/>
            <a:ext cx="11277295" cy="40000"/>
          </a:xfrm>
          <a:prstGeom prst="rect">
            <a:avLst/>
          </a:prstGeom>
          <a:solidFill>
            <a:srgbClr val="E8B54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640080" y="1554480"/>
            <a:ext cx="10972800" cy="4114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2200" b="1">
                <a:solidFill>
                  <a:srgbClr val="C83F3F"/>
                </a:solidFill>
                <a:latin typeface="Calibri"/>
              </a:rPr>
              <a:t>H1 falsified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40080" y="2011680"/>
            <a:ext cx="10972800" cy="1463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500" b="0">
                <a:solidFill>
                  <a:srgbClr val="F5F1E8"/>
                </a:solidFill>
                <a:latin typeface="Calibri"/>
              </a:rPr>
              <a:t>Every Stollberg to Midlands path (694 to 791 km, sea, beta = 0.81) sits below the 0.0755 uV receiver noise floor on both ITU globe models. Required TX height to put Stollberg to Liverpool inside line of sight on a globe is 13,098 m. Actual antenna frame is 72 m. Ratio 182 to 1.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40080" y="3657600"/>
            <a:ext cx="10972800" cy="4114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2200" b="1">
                <a:solidFill>
                  <a:srgbClr val="5FB06A"/>
                </a:solidFill>
                <a:latin typeface="Calibri"/>
              </a:rPr>
              <a:t>H0 holds (cannot reject)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40080" y="4069080"/>
            <a:ext cx="10972800" cy="21945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500" b="0">
                <a:solidFill>
                  <a:srgbClr val="F5F1E8"/>
                </a:solidFill>
                <a:latin typeface="Calibri"/>
              </a:rPr>
              <a:t>Sommerfeld-Norton flat-Earth model predicts +50 to +85 dB equisignal SNR on every confirmed path with no horizon, no shadow zone, no exponential decay. Predicted equisignal corridor width at Spalding matches the British-measured 400 to 500 yards. The observed operational record (10 months of Knickebein-guided night raids on Derby, Birmingham, Liverpool, Coventry) is quantitatively consistent with rectilinear propagation over a flat surface.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141A2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3" name="Picture 2" descr="aether_cosmology_logo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404104" y="640080"/>
            <a:ext cx="1828800" cy="1828800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457200" y="2834640"/>
            <a:ext cx="11247120" cy="6400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/>
            <a:r>
              <a:rPr sz="2800" b="1">
                <a:solidFill>
                  <a:srgbClr val="E8B549"/>
                </a:solidFill>
                <a:latin typeface="Calibri"/>
              </a:rPr>
              <a:t>Aether Cosmology Research Group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3474720"/>
            <a:ext cx="11247120" cy="5486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/>
            <a:r>
              <a:rPr sz="1800" b="0">
                <a:solidFill>
                  <a:srgbClr val="F5F1E8"/>
                </a:solidFill>
                <a:latin typeface="Calibri"/>
              </a:rPr>
              <a:t>ITU-certified Battle of the Beams Calculator v9_1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57200" y="4572000"/>
            <a:ext cx="1124712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/>
            <a:r>
              <a:rPr sz="1600" b="1">
                <a:solidFill>
                  <a:srgbClr val="E8B549"/>
                </a:solidFill>
                <a:latin typeface="Calibri"/>
              </a:rPr>
              <a:t>Reference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57200" y="4983480"/>
            <a:ext cx="11247120" cy="1463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/>
            <a:r>
              <a:rPr sz="1300" b="0">
                <a:solidFill>
                  <a:srgbClr val="F5F1E8"/>
                </a:solidFill>
                <a:latin typeface="Calibri"/>
              </a:rPr>
              <a:t>Jupyter Book walkthrough: BotB/jupyter_book/</a:t>
            </a:r>
          </a:p>
          <a:p>
            <a:pPr algn="ctr"/>
            <a:r>
              <a:rPr sz="1300" b="0">
                <a:solidFill>
                  <a:srgbClr val="F5F1E8"/>
                </a:solidFill>
                <a:latin typeface="Calibri"/>
              </a:rPr>
              <a:t>Vault docs: /Null_Hypothesis/Battle_of_the_Beams/  (Knickebein_Propagation_Null.md, GRWAVE_P368_BotB.md)</a:t>
            </a:r>
          </a:p>
          <a:p>
            <a:pPr algn="ctr"/>
            <a:r>
              <a:rPr sz="1300" b="0">
                <a:solidFill>
                  <a:srgbClr val="F5F1E8"/>
                </a:solidFill>
                <a:latin typeface="Calibri"/>
              </a:rPr>
              <a:t>Code repo: github.com/AlanSpaceAudits/battle-of-the-beams</a:t>
            </a:r>
          </a:p>
          <a:p>
            <a:pPr algn="ctr"/>
            <a:r>
              <a:rPr sz="1300" b="0">
                <a:solidFill>
                  <a:srgbClr val="F5F1E8"/>
                </a:solidFill>
                <a:latin typeface="Calibri"/>
              </a:rPr>
              <a:t>ITU standards used: P.526-16 Fock, P.368 GRWAVE, P.372-16 noise, P.527 surface constants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